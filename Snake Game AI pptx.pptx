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Pixellet TH" panose="020B0604020202020204" charset="-34"/>
      <p:regular r:id="rId18"/>
    </p:embeddedFont>
    <p:embeddedFont>
      <p:font typeface="Press Start 2P" panose="020B0604020202020204" charset="0"/>
      <p:regular r:id="rId19"/>
    </p:embeddedFont>
    <p:embeddedFont>
      <p:font typeface="Retropix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A3D544-6253-4804-A1F4-85F0FAD280F6}" v="67" dt="2025-12-19T11:08:31.3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51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ura maher" userId="041b074e2a940bc5" providerId="Windows Live" clId="Web-{D8A3D544-6253-4804-A1F4-85F0FAD280F6}"/>
    <pc:docChg chg="modSld">
      <pc:chgData name="noura maher" userId="041b074e2a940bc5" providerId="Windows Live" clId="Web-{D8A3D544-6253-4804-A1F4-85F0FAD280F6}" dt="2025-12-19T11:08:31.339" v="61" actId="1076"/>
      <pc:docMkLst>
        <pc:docMk/>
      </pc:docMkLst>
      <pc:sldChg chg="addSp modSp modTransition">
        <pc:chgData name="noura maher" userId="041b074e2a940bc5" providerId="Windows Live" clId="Web-{D8A3D544-6253-4804-A1F4-85F0FAD280F6}" dt="2025-12-19T11:08:31.339" v="61" actId="1076"/>
        <pc:sldMkLst>
          <pc:docMk/>
          <pc:sldMk cId="0" sldId="256"/>
        </pc:sldMkLst>
        <pc:spChg chg="add mod">
          <ac:chgData name="noura maher" userId="041b074e2a940bc5" providerId="Windows Live" clId="Web-{D8A3D544-6253-4804-A1F4-85F0FAD280F6}" dt="2025-12-19T11:08:31.214" v="47" actId="1076"/>
          <ac:spMkLst>
            <pc:docMk/>
            <pc:sldMk cId="0" sldId="256"/>
            <ac:spMk id="6" creationId="{B76A34E0-1068-EA6B-3DEA-4A59AE900E6E}"/>
          </ac:spMkLst>
        </pc:spChg>
        <pc:spChg chg="add mod">
          <ac:chgData name="noura maher" userId="041b074e2a940bc5" providerId="Windows Live" clId="Web-{D8A3D544-6253-4804-A1F4-85F0FAD280F6}" dt="2025-12-19T11:08:31.230" v="48" actId="1076"/>
          <ac:spMkLst>
            <pc:docMk/>
            <pc:sldMk cId="0" sldId="256"/>
            <ac:spMk id="8" creationId="{98F071F0-7AC9-3251-D0F4-B3CB093F7C4E}"/>
          </ac:spMkLst>
        </pc:spChg>
        <pc:spChg chg="add mod">
          <ac:chgData name="noura maher" userId="041b074e2a940bc5" providerId="Windows Live" clId="Web-{D8A3D544-6253-4804-A1F4-85F0FAD280F6}" dt="2025-12-19T11:08:31.230" v="49" actId="1076"/>
          <ac:spMkLst>
            <pc:docMk/>
            <pc:sldMk cId="0" sldId="256"/>
            <ac:spMk id="10" creationId="{C4504C52-5510-AD4A-35C5-81A531218682}"/>
          </ac:spMkLst>
        </pc:spChg>
        <pc:spChg chg="add mod">
          <ac:chgData name="noura maher" userId="041b074e2a940bc5" providerId="Windows Live" clId="Web-{D8A3D544-6253-4804-A1F4-85F0FAD280F6}" dt="2025-12-19T11:08:31.245" v="50" actId="1076"/>
          <ac:spMkLst>
            <pc:docMk/>
            <pc:sldMk cId="0" sldId="256"/>
            <ac:spMk id="12" creationId="{F5F0E757-151F-6F6E-1DD5-B1D931C25893}"/>
          </ac:spMkLst>
        </pc:spChg>
        <pc:spChg chg="add mod">
          <ac:chgData name="noura maher" userId="041b074e2a940bc5" providerId="Windows Live" clId="Web-{D8A3D544-6253-4804-A1F4-85F0FAD280F6}" dt="2025-12-19T11:08:31.245" v="51" actId="1076"/>
          <ac:spMkLst>
            <pc:docMk/>
            <pc:sldMk cId="0" sldId="256"/>
            <ac:spMk id="14" creationId="{9C869966-7788-5160-40F5-11F6C2250BB2}"/>
          </ac:spMkLst>
        </pc:spChg>
        <pc:spChg chg="add mod">
          <ac:chgData name="noura maher" userId="041b074e2a940bc5" providerId="Windows Live" clId="Web-{D8A3D544-6253-4804-A1F4-85F0FAD280F6}" dt="2025-12-19T11:08:31.261" v="52" actId="1076"/>
          <ac:spMkLst>
            <pc:docMk/>
            <pc:sldMk cId="0" sldId="256"/>
            <ac:spMk id="16" creationId="{D345FBFE-2EB5-1CE0-0CE2-F27E2C6C12BA}"/>
          </ac:spMkLst>
        </pc:spChg>
        <pc:spChg chg="add mod">
          <ac:chgData name="noura maher" userId="041b074e2a940bc5" providerId="Windows Live" clId="Web-{D8A3D544-6253-4804-A1F4-85F0FAD280F6}" dt="2025-12-19T11:08:31.261" v="53" actId="1076"/>
          <ac:spMkLst>
            <pc:docMk/>
            <pc:sldMk cId="0" sldId="256"/>
            <ac:spMk id="18" creationId="{18A2D2FF-815E-6D7B-BBEA-3C44DA9C49DA}"/>
          </ac:spMkLst>
        </pc:spChg>
        <pc:spChg chg="add mod">
          <ac:chgData name="noura maher" userId="041b074e2a940bc5" providerId="Windows Live" clId="Web-{D8A3D544-6253-4804-A1F4-85F0FAD280F6}" dt="2025-12-19T11:08:31.277" v="54" actId="1076"/>
          <ac:spMkLst>
            <pc:docMk/>
            <pc:sldMk cId="0" sldId="256"/>
            <ac:spMk id="20" creationId="{939D8626-4FB8-8068-2DF7-9615DD97B6D2}"/>
          </ac:spMkLst>
        </pc:spChg>
        <pc:spChg chg="add mod">
          <ac:chgData name="noura maher" userId="041b074e2a940bc5" providerId="Windows Live" clId="Web-{D8A3D544-6253-4804-A1F4-85F0FAD280F6}" dt="2025-12-19T11:08:31.277" v="55" actId="1076"/>
          <ac:spMkLst>
            <pc:docMk/>
            <pc:sldMk cId="0" sldId="256"/>
            <ac:spMk id="22" creationId="{BAF01CBF-C0F4-8878-EB18-6A137EE1707C}"/>
          </ac:spMkLst>
        </pc:spChg>
        <pc:spChg chg="add mod">
          <ac:chgData name="noura maher" userId="041b074e2a940bc5" providerId="Windows Live" clId="Web-{D8A3D544-6253-4804-A1F4-85F0FAD280F6}" dt="2025-12-19T11:08:31.292" v="56" actId="1076"/>
          <ac:spMkLst>
            <pc:docMk/>
            <pc:sldMk cId="0" sldId="256"/>
            <ac:spMk id="24" creationId="{DDB02F62-2B34-1CE3-F08A-738A0311A2D7}"/>
          </ac:spMkLst>
        </pc:spChg>
        <pc:spChg chg="add mod">
          <ac:chgData name="noura maher" userId="041b074e2a940bc5" providerId="Windows Live" clId="Web-{D8A3D544-6253-4804-A1F4-85F0FAD280F6}" dt="2025-12-19T11:08:31.292" v="57" actId="1076"/>
          <ac:spMkLst>
            <pc:docMk/>
            <pc:sldMk cId="0" sldId="256"/>
            <ac:spMk id="26" creationId="{249968A8-A36C-32C7-23B3-204D0C88B757}"/>
          </ac:spMkLst>
        </pc:spChg>
        <pc:spChg chg="add mod">
          <ac:chgData name="noura maher" userId="041b074e2a940bc5" providerId="Windows Live" clId="Web-{D8A3D544-6253-4804-A1F4-85F0FAD280F6}" dt="2025-12-19T11:08:31.308" v="58" actId="1076"/>
          <ac:spMkLst>
            <pc:docMk/>
            <pc:sldMk cId="0" sldId="256"/>
            <ac:spMk id="28" creationId="{B4947959-7E46-87B0-5163-A0AEBED675CD}"/>
          </ac:spMkLst>
        </pc:spChg>
        <pc:spChg chg="add mod">
          <ac:chgData name="noura maher" userId="041b074e2a940bc5" providerId="Windows Live" clId="Web-{D8A3D544-6253-4804-A1F4-85F0FAD280F6}" dt="2025-12-19T11:08:31.308" v="59" actId="1076"/>
          <ac:spMkLst>
            <pc:docMk/>
            <pc:sldMk cId="0" sldId="256"/>
            <ac:spMk id="30" creationId="{19658C96-9925-A11C-93AE-B27EACB55381}"/>
          </ac:spMkLst>
        </pc:spChg>
        <pc:spChg chg="add mod">
          <ac:chgData name="noura maher" userId="041b074e2a940bc5" providerId="Windows Live" clId="Web-{D8A3D544-6253-4804-A1F4-85F0FAD280F6}" dt="2025-12-19T11:08:31.323" v="60" actId="1076"/>
          <ac:spMkLst>
            <pc:docMk/>
            <pc:sldMk cId="0" sldId="256"/>
            <ac:spMk id="32" creationId="{81051C55-E17D-A839-626E-6900A395AA15}"/>
          </ac:spMkLst>
        </pc:spChg>
        <pc:spChg chg="add mod">
          <ac:chgData name="noura maher" userId="041b074e2a940bc5" providerId="Windows Live" clId="Web-{D8A3D544-6253-4804-A1F4-85F0FAD280F6}" dt="2025-12-19T11:08:31.339" v="61" actId="1076"/>
          <ac:spMkLst>
            <pc:docMk/>
            <pc:sldMk cId="0" sldId="256"/>
            <ac:spMk id="34" creationId="{D4C251FF-3741-F617-6940-5E1FA783CB1D}"/>
          </ac:spMkLst>
        </pc:spChg>
      </pc:sldChg>
      <pc:sldChg chg="modTransition">
        <pc:chgData name="noura maher" userId="041b074e2a940bc5" providerId="Windows Live" clId="Web-{D8A3D544-6253-4804-A1F4-85F0FAD280F6}" dt="2025-12-19T11:08:11.806" v="1"/>
        <pc:sldMkLst>
          <pc:docMk/>
          <pc:sldMk cId="0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6.svg"/><Relationship Id="rId7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4.pn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8.png"/><Relationship Id="rId9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8.png"/><Relationship Id="rId9" Type="http://schemas.openxmlformats.org/officeDocument/2006/relationships/image" Target="../media/image2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2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6.svg"/><Relationship Id="rId7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2847320" h="18288000">
                <a:moveTo>
                  <a:pt x="0" y="0"/>
                </a:moveTo>
                <a:lnTo>
                  <a:pt x="12847320" y="0"/>
                </a:lnTo>
                <a:lnTo>
                  <a:pt x="1284732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200025" cap="sq">
            <a:solidFill>
              <a:srgbClr val="39FF14"/>
            </a:solidFill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15279529" y="284159"/>
            <a:ext cx="3008471" cy="1783413"/>
          </a:xfrm>
          <a:custGeom>
            <a:avLst/>
            <a:gdLst/>
            <a:ahLst/>
            <a:cxnLst/>
            <a:rect l="l" t="t" r="r" b="b"/>
            <a:pathLst>
              <a:path w="3008471" h="1783413">
                <a:moveTo>
                  <a:pt x="0" y="0"/>
                </a:moveTo>
                <a:lnTo>
                  <a:pt x="3008471" y="0"/>
                </a:lnTo>
                <a:lnTo>
                  <a:pt x="3008471" y="1783413"/>
                </a:lnTo>
                <a:lnTo>
                  <a:pt x="0" y="17834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3908" r="-3530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25943" y="223632"/>
            <a:ext cx="2152650" cy="1904467"/>
          </a:xfrm>
          <a:custGeom>
            <a:avLst/>
            <a:gdLst/>
            <a:ahLst/>
            <a:cxnLst/>
            <a:rect l="l" t="t" r="r" b="b"/>
            <a:pathLst>
              <a:path w="2152650" h="1904467">
                <a:moveTo>
                  <a:pt x="0" y="0"/>
                </a:moveTo>
                <a:lnTo>
                  <a:pt x="2152650" y="0"/>
                </a:lnTo>
                <a:lnTo>
                  <a:pt x="2152650" y="1904467"/>
                </a:lnTo>
                <a:lnTo>
                  <a:pt x="0" y="19044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3531"/>
            </a:stretch>
          </a:blipFill>
        </p:spPr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B76A34E0-1068-EA6B-3DEA-4A59AE900E6E}"/>
              </a:ext>
            </a:extLst>
          </p:cNvPr>
          <p:cNvSpPr/>
          <p:nvPr/>
        </p:nvSpPr>
        <p:spPr>
          <a:xfrm>
            <a:off x="30685697" y="2822153"/>
            <a:ext cx="6636904" cy="6553943"/>
          </a:xfrm>
          <a:custGeom>
            <a:avLst/>
            <a:gdLst/>
            <a:ahLst/>
            <a:cxnLst/>
            <a:rect l="l" t="t" r="r" b="b"/>
            <a:pathLst>
              <a:path w="6636904" h="6553943">
                <a:moveTo>
                  <a:pt x="0" y="0"/>
                </a:moveTo>
                <a:lnTo>
                  <a:pt x="6636904" y="0"/>
                </a:lnTo>
                <a:lnTo>
                  <a:pt x="6636904" y="6553943"/>
                </a:lnTo>
                <a:lnTo>
                  <a:pt x="0" y="65539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98F071F0-7AC9-3251-D0F4-B3CB093F7C4E}"/>
              </a:ext>
            </a:extLst>
          </p:cNvPr>
          <p:cNvSpPr/>
          <p:nvPr/>
        </p:nvSpPr>
        <p:spPr>
          <a:xfrm flipH="1">
            <a:off x="19730086" y="2889334"/>
            <a:ext cx="6568872" cy="6486761"/>
          </a:xfrm>
          <a:custGeom>
            <a:avLst/>
            <a:gdLst/>
            <a:ahLst/>
            <a:cxnLst/>
            <a:rect l="l" t="t" r="r" b="b"/>
            <a:pathLst>
              <a:path w="6568872" h="6486761">
                <a:moveTo>
                  <a:pt x="6568873" y="0"/>
                </a:moveTo>
                <a:lnTo>
                  <a:pt x="0" y="0"/>
                </a:lnTo>
                <a:lnTo>
                  <a:pt x="0" y="6486762"/>
                </a:lnTo>
                <a:lnTo>
                  <a:pt x="6568873" y="6486762"/>
                </a:lnTo>
                <a:lnTo>
                  <a:pt x="656887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5" descr="A black and red logo&#10;&#10;AI-generated content may be incorrect.">
            <a:extLst>
              <a:ext uri="{FF2B5EF4-FFF2-40B4-BE49-F238E27FC236}">
                <a16:creationId xmlns:a16="http://schemas.microsoft.com/office/drawing/2014/main" id="{C4504C52-5510-AD4A-35C5-81A531218682}"/>
              </a:ext>
            </a:extLst>
          </p:cNvPr>
          <p:cNvSpPr/>
          <p:nvPr/>
        </p:nvSpPr>
        <p:spPr>
          <a:xfrm>
            <a:off x="34831421" y="145614"/>
            <a:ext cx="3008471" cy="1783413"/>
          </a:xfrm>
          <a:custGeom>
            <a:avLst/>
            <a:gdLst/>
            <a:ahLst/>
            <a:cxnLst/>
            <a:rect l="l" t="t" r="r" b="b"/>
            <a:pathLst>
              <a:path w="3008471" h="1783413">
                <a:moveTo>
                  <a:pt x="0" y="0"/>
                </a:moveTo>
                <a:lnTo>
                  <a:pt x="3008471" y="0"/>
                </a:lnTo>
                <a:lnTo>
                  <a:pt x="3008471" y="1783413"/>
                </a:lnTo>
                <a:lnTo>
                  <a:pt x="0" y="17834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3908" r="-3530"/>
            </a:stretch>
          </a:blipFill>
        </p:spPr>
      </p:sp>
      <p:sp>
        <p:nvSpPr>
          <p:cNvPr id="12" name="Freeform 6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F5F0E757-151F-6F6E-1DD5-B1D931C25893}"/>
              </a:ext>
            </a:extLst>
          </p:cNvPr>
          <p:cNvSpPr/>
          <p:nvPr/>
        </p:nvSpPr>
        <p:spPr>
          <a:xfrm>
            <a:off x="19777835" y="85087"/>
            <a:ext cx="2152650" cy="1904467"/>
          </a:xfrm>
          <a:custGeom>
            <a:avLst/>
            <a:gdLst/>
            <a:ahLst/>
            <a:cxnLst/>
            <a:rect l="l" t="t" r="r" b="b"/>
            <a:pathLst>
              <a:path w="2152650" h="1904467">
                <a:moveTo>
                  <a:pt x="0" y="0"/>
                </a:moveTo>
                <a:lnTo>
                  <a:pt x="2152650" y="0"/>
                </a:lnTo>
                <a:lnTo>
                  <a:pt x="2152650" y="1904467"/>
                </a:lnTo>
                <a:lnTo>
                  <a:pt x="0" y="19044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3531"/>
            </a:stretch>
          </a:blipFill>
        </p:spPr>
      </p:sp>
      <p:sp>
        <p:nvSpPr>
          <p:cNvPr id="14" name="Freeform 7" descr="A pixelated red apple&#10;&#10;AI-generated content may be incorrect.">
            <a:extLst>
              <a:ext uri="{FF2B5EF4-FFF2-40B4-BE49-F238E27FC236}">
                <a16:creationId xmlns:a16="http://schemas.microsoft.com/office/drawing/2014/main" id="{9C869966-7788-5160-40F5-11F6C2250BB2}"/>
              </a:ext>
            </a:extLst>
          </p:cNvPr>
          <p:cNvSpPr/>
          <p:nvPr/>
        </p:nvSpPr>
        <p:spPr>
          <a:xfrm>
            <a:off x="33438836" y="1401633"/>
            <a:ext cx="1130625" cy="1225610"/>
          </a:xfrm>
          <a:custGeom>
            <a:avLst/>
            <a:gdLst/>
            <a:ahLst/>
            <a:cxnLst/>
            <a:rect l="l" t="t" r="r" b="b"/>
            <a:pathLst>
              <a:path w="1130625" h="1225610">
                <a:moveTo>
                  <a:pt x="0" y="0"/>
                </a:moveTo>
                <a:lnTo>
                  <a:pt x="1130625" y="0"/>
                </a:lnTo>
                <a:lnTo>
                  <a:pt x="1130625" y="1225609"/>
                </a:lnTo>
                <a:lnTo>
                  <a:pt x="0" y="122560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6" name="Freeform 8" descr="A pixelated red apple&#10;&#10;AI-generated content may be incorrect.">
            <a:extLst>
              <a:ext uri="{FF2B5EF4-FFF2-40B4-BE49-F238E27FC236}">
                <a16:creationId xmlns:a16="http://schemas.microsoft.com/office/drawing/2014/main" id="{D345FBFE-2EB5-1CE0-0CE2-F27E2C6C12BA}"/>
              </a:ext>
            </a:extLst>
          </p:cNvPr>
          <p:cNvSpPr/>
          <p:nvPr/>
        </p:nvSpPr>
        <p:spPr>
          <a:xfrm>
            <a:off x="20008755" y="3707263"/>
            <a:ext cx="1130625" cy="1225610"/>
          </a:xfrm>
          <a:custGeom>
            <a:avLst/>
            <a:gdLst/>
            <a:ahLst/>
            <a:cxnLst/>
            <a:rect l="l" t="t" r="r" b="b"/>
            <a:pathLst>
              <a:path w="1130625" h="1225610">
                <a:moveTo>
                  <a:pt x="0" y="0"/>
                </a:moveTo>
                <a:lnTo>
                  <a:pt x="1130625" y="0"/>
                </a:lnTo>
                <a:lnTo>
                  <a:pt x="1130625" y="1225610"/>
                </a:lnTo>
                <a:lnTo>
                  <a:pt x="0" y="12256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8" name="Freeform 9" descr="A red apple with a brown stem&#10;&#10;AI-generated content may be incorrect.">
            <a:extLst>
              <a:ext uri="{FF2B5EF4-FFF2-40B4-BE49-F238E27FC236}">
                <a16:creationId xmlns:a16="http://schemas.microsoft.com/office/drawing/2014/main" id="{18A2D2FF-815E-6D7B-BBEA-3C44DA9C49DA}"/>
              </a:ext>
            </a:extLst>
          </p:cNvPr>
          <p:cNvSpPr/>
          <p:nvPr/>
        </p:nvSpPr>
        <p:spPr>
          <a:xfrm>
            <a:off x="28392966" y="8354550"/>
            <a:ext cx="1130625" cy="1225610"/>
          </a:xfrm>
          <a:custGeom>
            <a:avLst/>
            <a:gdLst/>
            <a:ahLst/>
            <a:cxnLst/>
            <a:rect l="l" t="t" r="r" b="b"/>
            <a:pathLst>
              <a:path w="1130625" h="1225610">
                <a:moveTo>
                  <a:pt x="0" y="0"/>
                </a:moveTo>
                <a:lnTo>
                  <a:pt x="1130625" y="0"/>
                </a:lnTo>
                <a:lnTo>
                  <a:pt x="1130625" y="1225610"/>
                </a:lnTo>
                <a:lnTo>
                  <a:pt x="0" y="12256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939D8626-4FB8-8068-2DF7-9615DD97B6D2}"/>
              </a:ext>
            </a:extLst>
          </p:cNvPr>
          <p:cNvSpPr txBox="1"/>
          <p:nvPr/>
        </p:nvSpPr>
        <p:spPr>
          <a:xfrm>
            <a:off x="26298959" y="1212521"/>
            <a:ext cx="4489066" cy="2494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92"/>
              </a:lnSpc>
            </a:pPr>
            <a:r>
              <a:rPr lang="en-US" sz="9175">
                <a:solidFill>
                  <a:srgbClr val="39FF14"/>
                </a:solidFill>
                <a:latin typeface="Pixellet TH"/>
                <a:ea typeface="Pixellet TH"/>
                <a:cs typeface="Pixellet TH"/>
                <a:sym typeface="Pixellet TH"/>
              </a:rPr>
              <a:t>SNAKE GAME</a:t>
            </a:r>
          </a:p>
        </p:txBody>
      </p:sp>
      <p:sp>
        <p:nvSpPr>
          <p:cNvPr id="22" name="TextBox 11">
            <a:extLst>
              <a:ext uri="{FF2B5EF4-FFF2-40B4-BE49-F238E27FC236}">
                <a16:creationId xmlns:a16="http://schemas.microsoft.com/office/drawing/2014/main" id="{BAF01CBF-C0F4-8878-EB18-6A137EE1707C}"/>
              </a:ext>
            </a:extLst>
          </p:cNvPr>
          <p:cNvSpPr txBox="1"/>
          <p:nvPr/>
        </p:nvSpPr>
        <p:spPr>
          <a:xfrm>
            <a:off x="24519994" y="5549848"/>
            <a:ext cx="3283398" cy="663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3"/>
              </a:lnSpc>
            </a:pPr>
            <a:r>
              <a:rPr lang="en-US" sz="2799">
                <a:solidFill>
                  <a:srgbClr val="39FF1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LECTURER:</a:t>
            </a:r>
          </a:p>
          <a:p>
            <a:pPr algn="ctr">
              <a:lnSpc>
                <a:spcPts val="2352"/>
              </a:lnSpc>
            </a:pPr>
            <a:endParaRPr lang="en-US" sz="2799">
              <a:solidFill>
                <a:srgbClr val="39FF14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24" name="TextBox 12">
            <a:extLst>
              <a:ext uri="{FF2B5EF4-FFF2-40B4-BE49-F238E27FC236}">
                <a16:creationId xmlns:a16="http://schemas.microsoft.com/office/drawing/2014/main" id="{DDB02F62-2B34-1CE3-F08A-738A0311A2D7}"/>
              </a:ext>
            </a:extLst>
          </p:cNvPr>
          <p:cNvSpPr txBox="1"/>
          <p:nvPr/>
        </p:nvSpPr>
        <p:spPr>
          <a:xfrm>
            <a:off x="29624139" y="6888452"/>
            <a:ext cx="2773680" cy="872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39FF14"/>
                </a:solidFill>
                <a:latin typeface="Retropix"/>
                <a:ea typeface="Retropix"/>
                <a:cs typeface="Retropix"/>
                <a:sym typeface="Retropix"/>
              </a:rPr>
              <a:t>ENG. KHALED TAREK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39FF14"/>
                </a:solidFill>
                <a:latin typeface="Retropix"/>
                <a:ea typeface="Retropix"/>
                <a:cs typeface="Retropix"/>
                <a:sym typeface="Retropix"/>
              </a:rPr>
              <a:t>ENG. HASSAN AHMED</a:t>
            </a:r>
          </a:p>
        </p:txBody>
      </p:sp>
      <p:sp>
        <p:nvSpPr>
          <p:cNvPr id="26" name="TextBox 13">
            <a:extLst>
              <a:ext uri="{FF2B5EF4-FFF2-40B4-BE49-F238E27FC236}">
                <a16:creationId xmlns:a16="http://schemas.microsoft.com/office/drawing/2014/main" id="{249968A8-A36C-32C7-23B3-204D0C88B757}"/>
              </a:ext>
            </a:extLst>
          </p:cNvPr>
          <p:cNvSpPr txBox="1"/>
          <p:nvPr/>
        </p:nvSpPr>
        <p:spPr>
          <a:xfrm>
            <a:off x="28392966" y="6610194"/>
            <a:ext cx="2815804" cy="373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3"/>
              </a:lnSpc>
            </a:pPr>
            <a:r>
              <a:rPr lang="en-US" sz="2799">
                <a:solidFill>
                  <a:srgbClr val="39FF1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TA:</a:t>
            </a:r>
          </a:p>
        </p:txBody>
      </p:sp>
      <p:sp>
        <p:nvSpPr>
          <p:cNvPr id="28" name="TextBox 14">
            <a:extLst>
              <a:ext uri="{FF2B5EF4-FFF2-40B4-BE49-F238E27FC236}">
                <a16:creationId xmlns:a16="http://schemas.microsoft.com/office/drawing/2014/main" id="{B4947959-7E46-87B0-5163-A0AEBED675CD}"/>
              </a:ext>
            </a:extLst>
          </p:cNvPr>
          <p:cNvSpPr txBox="1"/>
          <p:nvPr/>
        </p:nvSpPr>
        <p:spPr>
          <a:xfrm>
            <a:off x="24994446" y="5900646"/>
            <a:ext cx="3398520" cy="872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39FF14"/>
                </a:solidFill>
                <a:latin typeface="Retropix"/>
                <a:ea typeface="Retropix"/>
                <a:cs typeface="Retropix"/>
                <a:sym typeface="Retropix"/>
              </a:rPr>
              <a:t>DR. SARA ABDELGHAFAR 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39FF14"/>
                </a:solidFill>
                <a:latin typeface="Retropix"/>
                <a:ea typeface="Retropix"/>
                <a:cs typeface="Retropix"/>
                <a:sym typeface="Retropix"/>
              </a:rPr>
              <a:t> DR. MAHMOUD SHAWAKY</a:t>
            </a:r>
          </a:p>
        </p:txBody>
      </p:sp>
      <p:sp>
        <p:nvSpPr>
          <p:cNvPr id="30" name="TextBox 15">
            <a:extLst>
              <a:ext uri="{FF2B5EF4-FFF2-40B4-BE49-F238E27FC236}">
                <a16:creationId xmlns:a16="http://schemas.microsoft.com/office/drawing/2014/main" id="{19658C96-9925-A11C-93AE-B27EACB55381}"/>
              </a:ext>
            </a:extLst>
          </p:cNvPr>
          <p:cNvSpPr txBox="1"/>
          <p:nvPr/>
        </p:nvSpPr>
        <p:spPr>
          <a:xfrm>
            <a:off x="25906209" y="7699636"/>
            <a:ext cx="1574993" cy="53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39FF14"/>
                </a:solidFill>
                <a:latin typeface="Retropix"/>
                <a:ea typeface="Retropix"/>
                <a:cs typeface="Retropix"/>
                <a:sym typeface="Retropix"/>
              </a:rPr>
              <a:t>CSC2104</a:t>
            </a:r>
          </a:p>
        </p:txBody>
      </p:sp>
      <p:sp>
        <p:nvSpPr>
          <p:cNvPr id="32" name="TextBox 16">
            <a:extLst>
              <a:ext uri="{FF2B5EF4-FFF2-40B4-BE49-F238E27FC236}">
                <a16:creationId xmlns:a16="http://schemas.microsoft.com/office/drawing/2014/main" id="{81051C55-E17D-A839-626E-6900A395AA15}"/>
              </a:ext>
            </a:extLst>
          </p:cNvPr>
          <p:cNvSpPr txBox="1"/>
          <p:nvPr/>
        </p:nvSpPr>
        <p:spPr>
          <a:xfrm>
            <a:off x="23803057" y="7464778"/>
            <a:ext cx="3283398" cy="663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3"/>
              </a:lnSpc>
            </a:pPr>
            <a:r>
              <a:rPr lang="en-US" sz="2799">
                <a:solidFill>
                  <a:srgbClr val="39FF1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CODE:</a:t>
            </a:r>
          </a:p>
          <a:p>
            <a:pPr algn="ctr">
              <a:lnSpc>
                <a:spcPts val="2352"/>
              </a:lnSpc>
            </a:pPr>
            <a:endParaRPr lang="en-US" sz="2799">
              <a:solidFill>
                <a:srgbClr val="39FF14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34" name="Freeform 2">
            <a:extLst>
              <a:ext uri="{FF2B5EF4-FFF2-40B4-BE49-F238E27FC236}">
                <a16:creationId xmlns:a16="http://schemas.microsoft.com/office/drawing/2014/main" id="{D4C251FF-3741-F617-6940-5E1FA783CB1D}"/>
              </a:ext>
            </a:extLst>
          </p:cNvPr>
          <p:cNvSpPr/>
          <p:nvPr/>
        </p:nvSpPr>
        <p:spPr>
          <a:xfrm rot="16200000">
            <a:off x="23552392" y="-4139046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2847320" h="18288000">
                <a:moveTo>
                  <a:pt x="0" y="0"/>
                </a:moveTo>
                <a:lnTo>
                  <a:pt x="12847320" y="0"/>
                </a:lnTo>
                <a:lnTo>
                  <a:pt x="1284732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200025" cap="sq">
            <a:solidFill>
              <a:srgbClr val="39FF14"/>
            </a:solidFill>
            <a:prstDash val="solid"/>
            <a:miter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1286205" y="3113098"/>
            <a:ext cx="6636904" cy="6553943"/>
          </a:xfrm>
          <a:custGeom>
            <a:avLst/>
            <a:gdLst/>
            <a:ahLst/>
            <a:cxnLst/>
            <a:rect l="l" t="t" r="r" b="b"/>
            <a:pathLst>
              <a:path w="6636904" h="6553943">
                <a:moveTo>
                  <a:pt x="0" y="0"/>
                </a:moveTo>
                <a:lnTo>
                  <a:pt x="6636904" y="0"/>
                </a:lnTo>
                <a:lnTo>
                  <a:pt x="6636904" y="6553943"/>
                </a:lnTo>
                <a:lnTo>
                  <a:pt x="0" y="6553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330594" y="3180279"/>
            <a:ext cx="6568872" cy="6486761"/>
          </a:xfrm>
          <a:custGeom>
            <a:avLst/>
            <a:gdLst/>
            <a:ahLst/>
            <a:cxnLst/>
            <a:rect l="l" t="t" r="r" b="b"/>
            <a:pathLst>
              <a:path w="6568872" h="6486761">
                <a:moveTo>
                  <a:pt x="6568873" y="0"/>
                </a:moveTo>
                <a:lnTo>
                  <a:pt x="0" y="0"/>
                </a:lnTo>
                <a:lnTo>
                  <a:pt x="0" y="6486762"/>
                </a:lnTo>
                <a:lnTo>
                  <a:pt x="6568873" y="6486762"/>
                </a:lnTo>
                <a:lnTo>
                  <a:pt x="656887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279529" y="284159"/>
            <a:ext cx="3008471" cy="1783413"/>
          </a:xfrm>
          <a:custGeom>
            <a:avLst/>
            <a:gdLst/>
            <a:ahLst/>
            <a:cxnLst/>
            <a:rect l="l" t="t" r="r" b="b"/>
            <a:pathLst>
              <a:path w="3008471" h="1783413">
                <a:moveTo>
                  <a:pt x="0" y="0"/>
                </a:moveTo>
                <a:lnTo>
                  <a:pt x="3008471" y="0"/>
                </a:lnTo>
                <a:lnTo>
                  <a:pt x="3008471" y="1783413"/>
                </a:lnTo>
                <a:lnTo>
                  <a:pt x="0" y="17834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3908" r="-3530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25943" y="223632"/>
            <a:ext cx="2152650" cy="1904467"/>
          </a:xfrm>
          <a:custGeom>
            <a:avLst/>
            <a:gdLst/>
            <a:ahLst/>
            <a:cxnLst/>
            <a:rect l="l" t="t" r="r" b="b"/>
            <a:pathLst>
              <a:path w="2152650" h="1904467">
                <a:moveTo>
                  <a:pt x="0" y="0"/>
                </a:moveTo>
                <a:lnTo>
                  <a:pt x="2152650" y="0"/>
                </a:lnTo>
                <a:lnTo>
                  <a:pt x="2152650" y="1904467"/>
                </a:lnTo>
                <a:lnTo>
                  <a:pt x="0" y="19044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3531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039344" y="1692579"/>
            <a:ext cx="1130625" cy="1225610"/>
          </a:xfrm>
          <a:custGeom>
            <a:avLst/>
            <a:gdLst/>
            <a:ahLst/>
            <a:cxnLst/>
            <a:rect l="l" t="t" r="r" b="b"/>
            <a:pathLst>
              <a:path w="1130625" h="1225610">
                <a:moveTo>
                  <a:pt x="0" y="0"/>
                </a:moveTo>
                <a:lnTo>
                  <a:pt x="1130625" y="0"/>
                </a:lnTo>
                <a:lnTo>
                  <a:pt x="1130625" y="1225609"/>
                </a:lnTo>
                <a:lnTo>
                  <a:pt x="0" y="12256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09263" y="3998208"/>
            <a:ext cx="1130625" cy="1225610"/>
          </a:xfrm>
          <a:custGeom>
            <a:avLst/>
            <a:gdLst/>
            <a:ahLst/>
            <a:cxnLst/>
            <a:rect l="l" t="t" r="r" b="b"/>
            <a:pathLst>
              <a:path w="1130625" h="1225610">
                <a:moveTo>
                  <a:pt x="0" y="0"/>
                </a:moveTo>
                <a:lnTo>
                  <a:pt x="1130625" y="0"/>
                </a:lnTo>
                <a:lnTo>
                  <a:pt x="1130625" y="1225610"/>
                </a:lnTo>
                <a:lnTo>
                  <a:pt x="0" y="12256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993474" y="8645495"/>
            <a:ext cx="1130625" cy="1225610"/>
          </a:xfrm>
          <a:custGeom>
            <a:avLst/>
            <a:gdLst/>
            <a:ahLst/>
            <a:cxnLst/>
            <a:rect l="l" t="t" r="r" b="b"/>
            <a:pathLst>
              <a:path w="1130625" h="1225610">
                <a:moveTo>
                  <a:pt x="0" y="0"/>
                </a:moveTo>
                <a:lnTo>
                  <a:pt x="1130625" y="0"/>
                </a:lnTo>
                <a:lnTo>
                  <a:pt x="1130625" y="1225610"/>
                </a:lnTo>
                <a:lnTo>
                  <a:pt x="0" y="12256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899467" y="1503466"/>
            <a:ext cx="4489066" cy="2494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92"/>
              </a:lnSpc>
            </a:pPr>
            <a:r>
              <a:rPr lang="en-US" sz="9175">
                <a:solidFill>
                  <a:srgbClr val="39FF14"/>
                </a:solidFill>
                <a:latin typeface="Pixellet TH"/>
                <a:ea typeface="Pixellet TH"/>
                <a:cs typeface="Pixellet TH"/>
                <a:sym typeface="Pixellet TH"/>
              </a:rPr>
              <a:t>SNAKE GAME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20501" y="5840793"/>
            <a:ext cx="3283398" cy="663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3"/>
              </a:lnSpc>
            </a:pPr>
            <a:r>
              <a:rPr lang="en-US" sz="2799">
                <a:solidFill>
                  <a:srgbClr val="39FF1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LECTURER:</a:t>
            </a:r>
          </a:p>
          <a:p>
            <a:pPr algn="ctr">
              <a:lnSpc>
                <a:spcPts val="2352"/>
              </a:lnSpc>
            </a:pPr>
            <a:endParaRPr lang="en-US" sz="2799">
              <a:solidFill>
                <a:srgbClr val="39FF14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24647" y="7179397"/>
            <a:ext cx="2773680" cy="872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39FF14"/>
                </a:solidFill>
                <a:latin typeface="Retropix"/>
                <a:ea typeface="Retropix"/>
                <a:cs typeface="Retropix"/>
                <a:sym typeface="Retropix"/>
              </a:rPr>
              <a:t>ENG. KHALED TAREK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39FF14"/>
                </a:solidFill>
                <a:latin typeface="Retropix"/>
                <a:ea typeface="Retropix"/>
                <a:cs typeface="Retropix"/>
                <a:sym typeface="Retropix"/>
              </a:rPr>
              <a:t>ENG. HASSAN AHMED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93474" y="6901140"/>
            <a:ext cx="2815804" cy="373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3"/>
              </a:lnSpc>
            </a:pPr>
            <a:r>
              <a:rPr lang="en-US" sz="2799">
                <a:solidFill>
                  <a:srgbClr val="39FF1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TA: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94954" y="6191591"/>
            <a:ext cx="3398520" cy="872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39FF14"/>
                </a:solidFill>
                <a:latin typeface="Retropix"/>
                <a:ea typeface="Retropix"/>
                <a:cs typeface="Retropix"/>
                <a:sym typeface="Retropix"/>
              </a:rPr>
              <a:t>DR. SARA ABDELGHAFAR 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39FF14"/>
                </a:solidFill>
                <a:latin typeface="Retropix"/>
                <a:ea typeface="Retropix"/>
                <a:cs typeface="Retropix"/>
                <a:sym typeface="Retropix"/>
              </a:rPr>
              <a:t> DR. MAHMOUD SHAWAKY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06717" y="7990581"/>
            <a:ext cx="1574993" cy="53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39FF14"/>
                </a:solidFill>
                <a:latin typeface="Retropix"/>
                <a:ea typeface="Retropix"/>
                <a:cs typeface="Retropix"/>
                <a:sym typeface="Retropix"/>
              </a:rPr>
              <a:t>CSC2104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403565" y="7755723"/>
            <a:ext cx="3283398" cy="663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3"/>
              </a:lnSpc>
            </a:pPr>
            <a:r>
              <a:rPr lang="en-US" sz="2799">
                <a:solidFill>
                  <a:srgbClr val="39FF1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CODE:</a:t>
            </a:r>
          </a:p>
          <a:p>
            <a:pPr algn="ctr">
              <a:lnSpc>
                <a:spcPts val="2352"/>
              </a:lnSpc>
            </a:pPr>
            <a:endParaRPr lang="en-US" sz="2799">
              <a:solidFill>
                <a:srgbClr val="39FF14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7" name="Freeform 2">
            <a:extLst>
              <a:ext uri="{FF2B5EF4-FFF2-40B4-BE49-F238E27FC236}">
                <a16:creationId xmlns:a16="http://schemas.microsoft.com/office/drawing/2014/main" id="{A382B84D-3DE2-FF04-9C14-358C7C7849B4}"/>
              </a:ext>
            </a:extLst>
          </p:cNvPr>
          <p:cNvSpPr/>
          <p:nvPr/>
        </p:nvSpPr>
        <p:spPr>
          <a:xfrm rot="162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2847320" h="18288000">
                <a:moveTo>
                  <a:pt x="0" y="0"/>
                </a:moveTo>
                <a:lnTo>
                  <a:pt x="12847320" y="0"/>
                </a:lnTo>
                <a:lnTo>
                  <a:pt x="1284732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w="200025" cap="sq">
            <a:solidFill>
              <a:srgbClr val="39FF14"/>
            </a:solidFill>
            <a:prstDash val="solid"/>
            <a:miter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5279529" y="284159"/>
            <a:ext cx="3008471" cy="1783413"/>
          </a:xfrm>
          <a:custGeom>
            <a:avLst/>
            <a:gdLst/>
            <a:ahLst/>
            <a:cxnLst/>
            <a:rect l="l" t="t" r="r" b="b"/>
            <a:pathLst>
              <a:path w="3008471" h="1783413">
                <a:moveTo>
                  <a:pt x="0" y="0"/>
                </a:moveTo>
                <a:lnTo>
                  <a:pt x="3008471" y="0"/>
                </a:lnTo>
                <a:lnTo>
                  <a:pt x="3008471" y="1783413"/>
                </a:lnTo>
                <a:lnTo>
                  <a:pt x="0" y="17834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908" r="-353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25943" y="223632"/>
            <a:ext cx="2152650" cy="1904467"/>
          </a:xfrm>
          <a:custGeom>
            <a:avLst/>
            <a:gdLst/>
            <a:ahLst/>
            <a:cxnLst/>
            <a:rect l="l" t="t" r="r" b="b"/>
            <a:pathLst>
              <a:path w="2152650" h="1904467">
                <a:moveTo>
                  <a:pt x="0" y="0"/>
                </a:moveTo>
                <a:lnTo>
                  <a:pt x="2152650" y="0"/>
                </a:lnTo>
                <a:lnTo>
                  <a:pt x="2152650" y="1904467"/>
                </a:lnTo>
                <a:lnTo>
                  <a:pt x="0" y="1904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3531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028700" y="2067572"/>
            <a:ext cx="12338396" cy="7570104"/>
            <a:chOff x="0" y="0"/>
            <a:chExt cx="3429913" cy="2104390"/>
          </a:xfrm>
        </p:grpSpPr>
        <p:sp>
          <p:nvSpPr>
            <p:cNvPr id="6" name="Freeform 6"/>
            <p:cNvSpPr/>
            <p:nvPr/>
          </p:nvSpPr>
          <p:spPr>
            <a:xfrm>
              <a:off x="17787" y="-267"/>
              <a:ext cx="3427675" cy="2106424"/>
            </a:xfrm>
            <a:custGeom>
              <a:avLst/>
              <a:gdLst/>
              <a:ahLst/>
              <a:cxnLst/>
              <a:rect l="l" t="t" r="r" b="b"/>
              <a:pathLst>
                <a:path w="3427675" h="2106424">
                  <a:moveTo>
                    <a:pt x="3407619" y="799097"/>
                  </a:moveTo>
                  <a:cubicBezTo>
                    <a:pt x="3406116" y="623837"/>
                    <a:pt x="3394098" y="411747"/>
                    <a:pt x="3394098" y="221247"/>
                  </a:cubicBezTo>
                  <a:cubicBezTo>
                    <a:pt x="3394098" y="169177"/>
                    <a:pt x="3392595" y="65037"/>
                    <a:pt x="3385083" y="12967"/>
                  </a:cubicBezTo>
                  <a:cubicBezTo>
                    <a:pt x="3204799" y="12967"/>
                    <a:pt x="3010993" y="267"/>
                    <a:pt x="2829206" y="267"/>
                  </a:cubicBezTo>
                  <a:cubicBezTo>
                    <a:pt x="1884215" y="2807"/>
                    <a:pt x="948238" y="-1003"/>
                    <a:pt x="4749" y="267"/>
                  </a:cubicBezTo>
                  <a:cubicBezTo>
                    <a:pt x="4749" y="170447"/>
                    <a:pt x="-1261" y="359677"/>
                    <a:pt x="241" y="529857"/>
                  </a:cubicBezTo>
                  <a:cubicBezTo>
                    <a:pt x="3246" y="847357"/>
                    <a:pt x="7753" y="1166127"/>
                    <a:pt x="7753" y="1483627"/>
                  </a:cubicBezTo>
                  <a:cubicBezTo>
                    <a:pt x="7753" y="1637297"/>
                    <a:pt x="6251" y="1789697"/>
                    <a:pt x="15265" y="1943367"/>
                  </a:cubicBezTo>
                  <a:cubicBezTo>
                    <a:pt x="18270" y="1992897"/>
                    <a:pt x="21275" y="2041157"/>
                    <a:pt x="27284" y="2090687"/>
                  </a:cubicBezTo>
                  <a:cubicBezTo>
                    <a:pt x="225597" y="2093227"/>
                    <a:pt x="422408" y="2097037"/>
                    <a:pt x="620721" y="2102117"/>
                  </a:cubicBezTo>
                  <a:cubicBezTo>
                    <a:pt x="1148053" y="2114817"/>
                    <a:pt x="1660361" y="2094497"/>
                    <a:pt x="2204220" y="2103387"/>
                  </a:cubicBezTo>
                  <a:cubicBezTo>
                    <a:pt x="2614367" y="2109737"/>
                    <a:pt x="3017002" y="2090687"/>
                    <a:pt x="3424826" y="2090687"/>
                  </a:cubicBezTo>
                  <a:cubicBezTo>
                    <a:pt x="3424826" y="2074177"/>
                    <a:pt x="3426096" y="1977657"/>
                    <a:pt x="3427366" y="1961147"/>
                  </a:cubicBezTo>
                  <a:cubicBezTo>
                    <a:pt x="3429906" y="1862087"/>
                    <a:pt x="3415936" y="1676667"/>
                    <a:pt x="3417206" y="1577607"/>
                  </a:cubicBezTo>
                  <a:cubicBezTo>
                    <a:pt x="3423556" y="1169937"/>
                    <a:pt x="3410624" y="1150887"/>
                    <a:pt x="3407619" y="799097"/>
                  </a:cubicBezTo>
                  <a:close/>
                </a:path>
              </a:pathLst>
            </a:custGeom>
            <a:blipFill>
              <a:blip r:embed="rId4"/>
              <a:stretch>
                <a:fillRect l="-518" t="-9629" r="-527" b="-9625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242841" y="2439817"/>
            <a:ext cx="11978651" cy="6459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8" lvl="1" indent="-291464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PROJECT GOAL :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TO TRANSCEND THE TRADITIONAL SNAKE GAME BY TRANSFORMING IT INTO A 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PRACTICAL, EDUCATIONAL PLATFORM FOR COMPARING THE EFFICIENCY OF 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PATHFINDING ALGORITHMS IN ARTIFICIAL INTELLIGENCE (AI).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marL="561339" lvl="1" indent="-280669" algn="l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VISION : 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TO EVALUATE WHICH ALGORITHM (BFS OR A*) CONSUMES FEWER COMPUTATIONAL RESOURCES (EXPANDS FEWER NODES) WHILE CONSISTENTLY FINDING THE SHORTEST PATH TO THE FOOD IN REAL-TIME.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marL="561339" lvl="1" indent="-280669" algn="l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TOOLS AND TECHNOLOGY : 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THE PROJECT WAS DEVELOPED ENTIRELY USING PYTHON, LEVERAGING THE PYGAME LIBRARY FOR GRAPHICS, AND USING THE DEQUE AND HEAPQ LIBRARIES FOR ALGORITHM IMPLEMENTATION.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2130508" y="2664237"/>
            <a:ext cx="5469321" cy="6869053"/>
          </a:xfrm>
          <a:custGeom>
            <a:avLst/>
            <a:gdLst/>
            <a:ahLst/>
            <a:cxnLst/>
            <a:rect l="l" t="t" r="r" b="b"/>
            <a:pathLst>
              <a:path w="5469321" h="6869053">
                <a:moveTo>
                  <a:pt x="0" y="0"/>
                </a:moveTo>
                <a:lnTo>
                  <a:pt x="5469321" y="0"/>
                </a:lnTo>
                <a:lnTo>
                  <a:pt x="5469321" y="6869053"/>
                </a:lnTo>
                <a:lnTo>
                  <a:pt x="0" y="6869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945173" y="1038225"/>
            <a:ext cx="9185335" cy="754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3"/>
              </a:lnSpc>
            </a:pPr>
            <a:r>
              <a:rPr lang="en-US" sz="2799">
                <a:solidFill>
                  <a:srgbClr val="39FF14"/>
                </a:solidFill>
                <a:latin typeface="Pixellet TH"/>
                <a:ea typeface="Pixellet TH"/>
                <a:cs typeface="Pixellet TH"/>
                <a:sym typeface="Pixellet TH"/>
              </a:rPr>
              <a:t>SNAKE AI RACE: A COMPARATIVE STUDY OF BFS AND A* SEARCH ALGORITHMS</a:t>
            </a:r>
          </a:p>
        </p:txBody>
      </p:sp>
      <p:sp>
        <p:nvSpPr>
          <p:cNvPr id="10" name="Freeform 2">
            <a:extLst>
              <a:ext uri="{FF2B5EF4-FFF2-40B4-BE49-F238E27FC236}">
                <a16:creationId xmlns:a16="http://schemas.microsoft.com/office/drawing/2014/main" id="{CDC1447F-C2BB-911F-7AEB-451154821BD5}"/>
              </a:ext>
            </a:extLst>
          </p:cNvPr>
          <p:cNvSpPr/>
          <p:nvPr/>
        </p:nvSpPr>
        <p:spPr>
          <a:xfrm rot="162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2847320" h="18288000">
                <a:moveTo>
                  <a:pt x="0" y="0"/>
                </a:moveTo>
                <a:lnTo>
                  <a:pt x="12847320" y="0"/>
                </a:lnTo>
                <a:lnTo>
                  <a:pt x="1284732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w="200025" cap="sq">
            <a:solidFill>
              <a:srgbClr val="39FF14"/>
            </a:solidFill>
            <a:prstDash val="solid"/>
            <a:miter/>
          </a:ln>
        </p:spPr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2847320" h="18288000">
                <a:moveTo>
                  <a:pt x="0" y="0"/>
                </a:moveTo>
                <a:lnTo>
                  <a:pt x="12847320" y="0"/>
                </a:lnTo>
                <a:lnTo>
                  <a:pt x="1284732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200025" cap="sq">
            <a:solidFill>
              <a:srgbClr val="39FF14"/>
            </a:solidFill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15279529" y="284159"/>
            <a:ext cx="3008471" cy="1783413"/>
          </a:xfrm>
          <a:custGeom>
            <a:avLst/>
            <a:gdLst/>
            <a:ahLst/>
            <a:cxnLst/>
            <a:rect l="l" t="t" r="r" b="b"/>
            <a:pathLst>
              <a:path w="3008471" h="1783413">
                <a:moveTo>
                  <a:pt x="0" y="0"/>
                </a:moveTo>
                <a:lnTo>
                  <a:pt x="3008471" y="0"/>
                </a:lnTo>
                <a:lnTo>
                  <a:pt x="3008471" y="1783413"/>
                </a:lnTo>
                <a:lnTo>
                  <a:pt x="0" y="17834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3908" r="-3530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25943" y="223632"/>
            <a:ext cx="2152650" cy="1904467"/>
          </a:xfrm>
          <a:custGeom>
            <a:avLst/>
            <a:gdLst/>
            <a:ahLst/>
            <a:cxnLst/>
            <a:rect l="l" t="t" r="r" b="b"/>
            <a:pathLst>
              <a:path w="2152650" h="1904467">
                <a:moveTo>
                  <a:pt x="0" y="0"/>
                </a:moveTo>
                <a:lnTo>
                  <a:pt x="2152650" y="0"/>
                </a:lnTo>
                <a:lnTo>
                  <a:pt x="2152650" y="1904467"/>
                </a:lnTo>
                <a:lnTo>
                  <a:pt x="0" y="19044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3531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5237044" y="2128099"/>
            <a:ext cx="12338396" cy="7570104"/>
            <a:chOff x="0" y="0"/>
            <a:chExt cx="3429913" cy="2104390"/>
          </a:xfrm>
        </p:grpSpPr>
        <p:sp>
          <p:nvSpPr>
            <p:cNvPr id="7" name="Freeform 7"/>
            <p:cNvSpPr/>
            <p:nvPr/>
          </p:nvSpPr>
          <p:spPr>
            <a:xfrm>
              <a:off x="17787" y="-267"/>
              <a:ext cx="3427675" cy="2106424"/>
            </a:xfrm>
            <a:custGeom>
              <a:avLst/>
              <a:gdLst/>
              <a:ahLst/>
              <a:cxnLst/>
              <a:rect l="l" t="t" r="r" b="b"/>
              <a:pathLst>
                <a:path w="3427675" h="2106424">
                  <a:moveTo>
                    <a:pt x="3407619" y="799097"/>
                  </a:moveTo>
                  <a:cubicBezTo>
                    <a:pt x="3406116" y="623837"/>
                    <a:pt x="3394098" y="411747"/>
                    <a:pt x="3394098" y="221247"/>
                  </a:cubicBezTo>
                  <a:cubicBezTo>
                    <a:pt x="3394098" y="169177"/>
                    <a:pt x="3392595" y="65037"/>
                    <a:pt x="3385083" y="12967"/>
                  </a:cubicBezTo>
                  <a:cubicBezTo>
                    <a:pt x="3204799" y="12967"/>
                    <a:pt x="3010993" y="267"/>
                    <a:pt x="2829206" y="267"/>
                  </a:cubicBezTo>
                  <a:cubicBezTo>
                    <a:pt x="1884215" y="2807"/>
                    <a:pt x="948238" y="-1003"/>
                    <a:pt x="4749" y="267"/>
                  </a:cubicBezTo>
                  <a:cubicBezTo>
                    <a:pt x="4749" y="170447"/>
                    <a:pt x="-1261" y="359677"/>
                    <a:pt x="241" y="529857"/>
                  </a:cubicBezTo>
                  <a:cubicBezTo>
                    <a:pt x="3246" y="847357"/>
                    <a:pt x="7753" y="1166127"/>
                    <a:pt x="7753" y="1483627"/>
                  </a:cubicBezTo>
                  <a:cubicBezTo>
                    <a:pt x="7753" y="1637297"/>
                    <a:pt x="6251" y="1789697"/>
                    <a:pt x="15265" y="1943367"/>
                  </a:cubicBezTo>
                  <a:cubicBezTo>
                    <a:pt x="18270" y="1992897"/>
                    <a:pt x="21275" y="2041157"/>
                    <a:pt x="27284" y="2090687"/>
                  </a:cubicBezTo>
                  <a:cubicBezTo>
                    <a:pt x="225597" y="2093227"/>
                    <a:pt x="422408" y="2097037"/>
                    <a:pt x="620721" y="2102117"/>
                  </a:cubicBezTo>
                  <a:cubicBezTo>
                    <a:pt x="1148053" y="2114817"/>
                    <a:pt x="1660361" y="2094497"/>
                    <a:pt x="2204220" y="2103387"/>
                  </a:cubicBezTo>
                  <a:cubicBezTo>
                    <a:pt x="2614367" y="2109737"/>
                    <a:pt x="3017002" y="2090687"/>
                    <a:pt x="3424826" y="2090687"/>
                  </a:cubicBezTo>
                  <a:cubicBezTo>
                    <a:pt x="3424826" y="2074177"/>
                    <a:pt x="3426096" y="1977657"/>
                    <a:pt x="3427366" y="1961147"/>
                  </a:cubicBezTo>
                  <a:cubicBezTo>
                    <a:pt x="3429906" y="1862087"/>
                    <a:pt x="3415936" y="1676667"/>
                    <a:pt x="3417206" y="1577607"/>
                  </a:cubicBezTo>
                  <a:cubicBezTo>
                    <a:pt x="3423556" y="1169937"/>
                    <a:pt x="3410624" y="1150887"/>
                    <a:pt x="3407619" y="799097"/>
                  </a:cubicBezTo>
                  <a:close/>
                </a:path>
              </a:pathLst>
            </a:custGeom>
            <a:blipFill>
              <a:blip r:embed="rId6"/>
              <a:stretch>
                <a:fillRect l="-518" t="-9629" r="-527" b="-9625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5442390" y="2611786"/>
            <a:ext cx="11816910" cy="6808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DUAL ARCHITECTURE : 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THE DISPLAY IS DIVIDED INTO TWO IDENTICAL VIEWING BOARDS ($20 \TIMES 20$ CELLS), WITH EACH BOARD OPERATING INDEPENDENTLY AND MANAGED BY A DIFFERENT AI AGENT.</a:t>
            </a:r>
          </a:p>
          <a:p>
            <a:pPr marL="647697" lvl="1" indent="-323848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AGENT TASK: 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IN EVERY TIME STEP, THE AI AGENT MUST CALCULATE THE SHORTEST PATH FROM THE SNAKE'S HEAD (START) TO THE FOOD ITEM (GOAL).</a:t>
            </a:r>
          </a:p>
          <a:p>
            <a:pPr marL="647697" lvl="1" indent="-323848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PATH CONSTRAINTS :</a:t>
            </a:r>
          </a:p>
          <a:p>
            <a:pPr marL="582928" lvl="1" indent="-291464" algn="l">
              <a:lnSpc>
                <a:spcPts val="3779"/>
              </a:lnSpc>
              <a:buAutoNum type="arabicPeriod"/>
            </a:pPr>
            <a:r>
              <a:rPr lang="en-US" sz="26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OBSTACLES: THE SNAKE'S CURRENT BODY (EXCLUDING THE HEAD) IS ENTIRELY TREATED AS A SET OF STATIC OBSTACLES (BLOCKED NODES) THAT THE ALGORITHM MUST AVOID TO PREVENT SELF-COLLISION.</a:t>
            </a:r>
          </a:p>
          <a:p>
            <a:pPr marL="582928" lvl="1" indent="-291464" algn="l">
              <a:lnSpc>
                <a:spcPts val="3779"/>
              </a:lnSpc>
              <a:buAutoNum type="arabicPeriod"/>
            </a:pPr>
            <a:r>
              <a:rPr lang="en-US" sz="26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MOVEMENT COST: ALL MOVEMENTS (UP, DOWN, LEFT, RIGHT) HAVE A UNIFORM COST OF 1.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699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028700" y="2946226"/>
            <a:ext cx="3759616" cy="6978406"/>
          </a:xfrm>
          <a:custGeom>
            <a:avLst/>
            <a:gdLst/>
            <a:ahLst/>
            <a:cxnLst/>
            <a:rect l="l" t="t" r="r" b="b"/>
            <a:pathLst>
              <a:path w="3759616" h="6978406">
                <a:moveTo>
                  <a:pt x="0" y="0"/>
                </a:moveTo>
                <a:lnTo>
                  <a:pt x="3759616" y="0"/>
                </a:lnTo>
                <a:lnTo>
                  <a:pt x="3759616" y="6978406"/>
                </a:lnTo>
                <a:lnTo>
                  <a:pt x="0" y="69784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450034" y="1038225"/>
            <a:ext cx="9185335" cy="754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3"/>
              </a:lnSpc>
            </a:pPr>
            <a:r>
              <a:rPr lang="en-US" sz="2799">
                <a:solidFill>
                  <a:srgbClr val="39FF14"/>
                </a:solidFill>
                <a:latin typeface="Pixellet TH"/>
                <a:ea typeface="Pixellet TH"/>
                <a:cs typeface="Pixellet TH"/>
                <a:sym typeface="Pixellet TH"/>
              </a:rPr>
              <a:t>IMPLEMENTATION ENVIRONMENT AND DUAL AI CONTROL</a:t>
            </a:r>
          </a:p>
        </p:txBody>
      </p:sp>
      <p:sp>
        <p:nvSpPr>
          <p:cNvPr id="11" name="Freeform 11"/>
          <p:cNvSpPr/>
          <p:nvPr/>
        </p:nvSpPr>
        <p:spPr>
          <a:xfrm>
            <a:off x="1028700" y="1720616"/>
            <a:ext cx="1130625" cy="1225610"/>
          </a:xfrm>
          <a:custGeom>
            <a:avLst/>
            <a:gdLst/>
            <a:ahLst/>
            <a:cxnLst/>
            <a:rect l="l" t="t" r="r" b="b"/>
            <a:pathLst>
              <a:path w="1130625" h="1225610">
                <a:moveTo>
                  <a:pt x="0" y="0"/>
                </a:moveTo>
                <a:lnTo>
                  <a:pt x="1130625" y="0"/>
                </a:lnTo>
                <a:lnTo>
                  <a:pt x="1130625" y="1225610"/>
                </a:lnTo>
                <a:lnTo>
                  <a:pt x="0" y="12256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</p:spTree>
  </p:cSld>
  <p:clrMapOvr>
    <a:masterClrMapping/>
  </p:clrMapOvr>
  <p:transition spd="slow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5279529" y="284159"/>
            <a:ext cx="3008471" cy="1783413"/>
          </a:xfrm>
          <a:custGeom>
            <a:avLst/>
            <a:gdLst/>
            <a:ahLst/>
            <a:cxnLst/>
            <a:rect l="l" t="t" r="r" b="b"/>
            <a:pathLst>
              <a:path w="3008471" h="1783413">
                <a:moveTo>
                  <a:pt x="0" y="0"/>
                </a:moveTo>
                <a:lnTo>
                  <a:pt x="3008471" y="0"/>
                </a:lnTo>
                <a:lnTo>
                  <a:pt x="3008471" y="1783413"/>
                </a:lnTo>
                <a:lnTo>
                  <a:pt x="0" y="17834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908" r="-353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25943" y="223632"/>
            <a:ext cx="2152650" cy="1904467"/>
          </a:xfrm>
          <a:custGeom>
            <a:avLst/>
            <a:gdLst/>
            <a:ahLst/>
            <a:cxnLst/>
            <a:rect l="l" t="t" r="r" b="b"/>
            <a:pathLst>
              <a:path w="2152650" h="1904467">
                <a:moveTo>
                  <a:pt x="0" y="0"/>
                </a:moveTo>
                <a:lnTo>
                  <a:pt x="2152650" y="0"/>
                </a:lnTo>
                <a:lnTo>
                  <a:pt x="2152650" y="1904467"/>
                </a:lnTo>
                <a:lnTo>
                  <a:pt x="0" y="1904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3531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520446" y="2067572"/>
            <a:ext cx="12338396" cy="7570104"/>
            <a:chOff x="0" y="0"/>
            <a:chExt cx="3429913" cy="2104390"/>
          </a:xfrm>
        </p:grpSpPr>
        <p:sp>
          <p:nvSpPr>
            <p:cNvPr id="6" name="Freeform 6"/>
            <p:cNvSpPr/>
            <p:nvPr/>
          </p:nvSpPr>
          <p:spPr>
            <a:xfrm>
              <a:off x="17787" y="-267"/>
              <a:ext cx="3427675" cy="2106424"/>
            </a:xfrm>
            <a:custGeom>
              <a:avLst/>
              <a:gdLst/>
              <a:ahLst/>
              <a:cxnLst/>
              <a:rect l="l" t="t" r="r" b="b"/>
              <a:pathLst>
                <a:path w="3427675" h="2106424">
                  <a:moveTo>
                    <a:pt x="3407619" y="799097"/>
                  </a:moveTo>
                  <a:cubicBezTo>
                    <a:pt x="3406116" y="623837"/>
                    <a:pt x="3394098" y="411747"/>
                    <a:pt x="3394098" y="221247"/>
                  </a:cubicBezTo>
                  <a:cubicBezTo>
                    <a:pt x="3394098" y="169177"/>
                    <a:pt x="3392595" y="65037"/>
                    <a:pt x="3385083" y="12967"/>
                  </a:cubicBezTo>
                  <a:cubicBezTo>
                    <a:pt x="3204799" y="12967"/>
                    <a:pt x="3010993" y="267"/>
                    <a:pt x="2829206" y="267"/>
                  </a:cubicBezTo>
                  <a:cubicBezTo>
                    <a:pt x="1884215" y="2807"/>
                    <a:pt x="948238" y="-1003"/>
                    <a:pt x="4749" y="267"/>
                  </a:cubicBezTo>
                  <a:cubicBezTo>
                    <a:pt x="4749" y="170447"/>
                    <a:pt x="-1261" y="359677"/>
                    <a:pt x="241" y="529857"/>
                  </a:cubicBezTo>
                  <a:cubicBezTo>
                    <a:pt x="3246" y="847357"/>
                    <a:pt x="7753" y="1166127"/>
                    <a:pt x="7753" y="1483627"/>
                  </a:cubicBezTo>
                  <a:cubicBezTo>
                    <a:pt x="7753" y="1637297"/>
                    <a:pt x="6251" y="1789697"/>
                    <a:pt x="15265" y="1943367"/>
                  </a:cubicBezTo>
                  <a:cubicBezTo>
                    <a:pt x="18270" y="1992897"/>
                    <a:pt x="21275" y="2041157"/>
                    <a:pt x="27284" y="2090687"/>
                  </a:cubicBezTo>
                  <a:cubicBezTo>
                    <a:pt x="225597" y="2093227"/>
                    <a:pt x="422408" y="2097037"/>
                    <a:pt x="620721" y="2102117"/>
                  </a:cubicBezTo>
                  <a:cubicBezTo>
                    <a:pt x="1148053" y="2114817"/>
                    <a:pt x="1660361" y="2094497"/>
                    <a:pt x="2204220" y="2103387"/>
                  </a:cubicBezTo>
                  <a:cubicBezTo>
                    <a:pt x="2614367" y="2109737"/>
                    <a:pt x="3017002" y="2090687"/>
                    <a:pt x="3424826" y="2090687"/>
                  </a:cubicBezTo>
                  <a:cubicBezTo>
                    <a:pt x="3424826" y="2074177"/>
                    <a:pt x="3426096" y="1977657"/>
                    <a:pt x="3427366" y="1961147"/>
                  </a:cubicBezTo>
                  <a:cubicBezTo>
                    <a:pt x="3429906" y="1862087"/>
                    <a:pt x="3415936" y="1676667"/>
                    <a:pt x="3417206" y="1577607"/>
                  </a:cubicBezTo>
                  <a:cubicBezTo>
                    <a:pt x="3423556" y="1169937"/>
                    <a:pt x="3410624" y="1150887"/>
                    <a:pt x="3407619" y="799097"/>
                  </a:cubicBezTo>
                  <a:close/>
                </a:path>
              </a:pathLst>
            </a:custGeom>
            <a:blipFill>
              <a:blip r:embed="rId4"/>
              <a:stretch>
                <a:fillRect l="-518" t="-9629" r="-527" b="-9625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725792" y="2570309"/>
            <a:ext cx="11816910" cy="6650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8" lvl="1" indent="-291464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PRINCIPLE : 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BFS IS AN UNINFORMED SEARCH ALGORITHM THAT EXPLORES ALL NODES AT A GIVEN DEPTH LEVEL BEFORE MOVING TO THE NEXT DEEPER LEVEL.</a:t>
            </a:r>
          </a:p>
          <a:p>
            <a:pPr marL="582928" lvl="1" indent="-291464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IMPLEMENTATION :</a:t>
            </a:r>
          </a:p>
          <a:p>
            <a:pPr marL="582928" lvl="1" indent="-291464" algn="l">
              <a:lnSpc>
                <a:spcPts val="3779"/>
              </a:lnSpc>
              <a:buAutoNum type="arabicPeriod"/>
            </a:pPr>
            <a:r>
              <a:rPr lang="en-US" sz="26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IT USES A QUEUE STRUCTURE, IMPLEMENTED USING DEQUE IN PYTHON, TO ENSURE NODES ARE EXPLORED IN A FIRST-IN, FIRST-OUT (FIFO) MANNER.</a:t>
            </a:r>
          </a:p>
          <a:p>
            <a:pPr marL="582928" lvl="1" indent="-291464" algn="l">
              <a:lnSpc>
                <a:spcPts val="3779"/>
              </a:lnSpc>
              <a:buAutoNum type="arabicPeriod"/>
            </a:pPr>
            <a:r>
              <a:rPr lang="en-US" sz="26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PERFORMANCE GUARANTEE: BFS IS GUARANTEED TO FIND THE SHORTEST PATH IN AN UNWEIGHTED GRID ENVIRONMENT.</a:t>
            </a:r>
          </a:p>
          <a:p>
            <a:pPr marL="582928" lvl="1" indent="-291464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EFFICIENCY (THE DRAWBACK) :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COMPUTATIONAL COST: IT IS GENERALLY CONSIDERED COMPUTATIONALLY LESS EFFICIENT (O(B^D))  BECAUSE IT EXPANDS A VERY LARGE NUMBER OF UNDIRECTED NODES (CELLS) IN OPEN AREAS BEFORE FINALLY REACHING THE GOAL, WASTING PROCESSING TIME.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699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945173" y="1038225"/>
            <a:ext cx="9185335" cy="754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3"/>
              </a:lnSpc>
            </a:pPr>
            <a:r>
              <a:rPr lang="en-US" sz="2799">
                <a:solidFill>
                  <a:srgbClr val="39FF14"/>
                </a:solidFill>
                <a:latin typeface="Pixellet TH"/>
                <a:ea typeface="Pixellet TH"/>
                <a:cs typeface="Pixellet TH"/>
                <a:sym typeface="Pixellet TH"/>
              </a:rPr>
              <a:t>BFS ALGORITHM: GUARANTEEING THE SHORTEST PATH</a:t>
            </a:r>
          </a:p>
        </p:txBody>
      </p:sp>
      <p:sp>
        <p:nvSpPr>
          <p:cNvPr id="9" name="Freeform 9"/>
          <p:cNvSpPr/>
          <p:nvPr/>
        </p:nvSpPr>
        <p:spPr>
          <a:xfrm rot="992762">
            <a:off x="13397436" y="2670275"/>
            <a:ext cx="3764186" cy="5881541"/>
          </a:xfrm>
          <a:custGeom>
            <a:avLst/>
            <a:gdLst/>
            <a:ahLst/>
            <a:cxnLst/>
            <a:rect l="l" t="t" r="r" b="b"/>
            <a:pathLst>
              <a:path w="3764186" h="5881541">
                <a:moveTo>
                  <a:pt x="0" y="0"/>
                </a:moveTo>
                <a:lnTo>
                  <a:pt x="3764186" y="0"/>
                </a:lnTo>
                <a:lnTo>
                  <a:pt x="3764186" y="5881541"/>
                </a:lnTo>
                <a:lnTo>
                  <a:pt x="0" y="58815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267460" y="8353231"/>
            <a:ext cx="1130625" cy="1225610"/>
          </a:xfrm>
          <a:custGeom>
            <a:avLst/>
            <a:gdLst/>
            <a:ahLst/>
            <a:cxnLst/>
            <a:rect l="l" t="t" r="r" b="b"/>
            <a:pathLst>
              <a:path w="1130625" h="1225610">
                <a:moveTo>
                  <a:pt x="0" y="0"/>
                </a:moveTo>
                <a:lnTo>
                  <a:pt x="1130625" y="0"/>
                </a:lnTo>
                <a:lnTo>
                  <a:pt x="1130625" y="1225610"/>
                </a:lnTo>
                <a:lnTo>
                  <a:pt x="0" y="12256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Freeform 2">
            <a:extLst>
              <a:ext uri="{FF2B5EF4-FFF2-40B4-BE49-F238E27FC236}">
                <a16:creationId xmlns:a16="http://schemas.microsoft.com/office/drawing/2014/main" id="{DD53F6A0-038D-5418-4120-2F49761CE575}"/>
              </a:ext>
            </a:extLst>
          </p:cNvPr>
          <p:cNvSpPr/>
          <p:nvPr/>
        </p:nvSpPr>
        <p:spPr>
          <a:xfrm rot="162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2847320" h="18288000">
                <a:moveTo>
                  <a:pt x="0" y="0"/>
                </a:moveTo>
                <a:lnTo>
                  <a:pt x="12847320" y="0"/>
                </a:lnTo>
                <a:lnTo>
                  <a:pt x="1284732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w="200025" cap="sq">
            <a:solidFill>
              <a:srgbClr val="39FF14"/>
            </a:solidFill>
            <a:prstDash val="solid"/>
            <a:miter/>
          </a:ln>
        </p:spPr>
      </p:sp>
    </p:spTree>
  </p:cSld>
  <p:clrMapOvr>
    <a:masterClrMapping/>
  </p:clrMapOvr>
  <p:transition spd="slow">
    <p:strips dir="l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5279529" y="284159"/>
            <a:ext cx="3008471" cy="1783413"/>
          </a:xfrm>
          <a:custGeom>
            <a:avLst/>
            <a:gdLst/>
            <a:ahLst/>
            <a:cxnLst/>
            <a:rect l="l" t="t" r="r" b="b"/>
            <a:pathLst>
              <a:path w="3008471" h="1783413">
                <a:moveTo>
                  <a:pt x="0" y="0"/>
                </a:moveTo>
                <a:lnTo>
                  <a:pt x="3008471" y="0"/>
                </a:lnTo>
                <a:lnTo>
                  <a:pt x="3008471" y="1783413"/>
                </a:lnTo>
                <a:lnTo>
                  <a:pt x="0" y="17834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908" r="-353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25943" y="223632"/>
            <a:ext cx="2152650" cy="1904467"/>
          </a:xfrm>
          <a:custGeom>
            <a:avLst/>
            <a:gdLst/>
            <a:ahLst/>
            <a:cxnLst/>
            <a:rect l="l" t="t" r="r" b="b"/>
            <a:pathLst>
              <a:path w="2152650" h="1904467">
                <a:moveTo>
                  <a:pt x="0" y="0"/>
                </a:moveTo>
                <a:lnTo>
                  <a:pt x="2152650" y="0"/>
                </a:lnTo>
                <a:lnTo>
                  <a:pt x="2152650" y="1904467"/>
                </a:lnTo>
                <a:lnTo>
                  <a:pt x="0" y="1904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3531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4920904" y="1792732"/>
            <a:ext cx="12338396" cy="7570104"/>
            <a:chOff x="0" y="0"/>
            <a:chExt cx="3429913" cy="2104390"/>
          </a:xfrm>
        </p:grpSpPr>
        <p:sp>
          <p:nvSpPr>
            <p:cNvPr id="6" name="Freeform 6"/>
            <p:cNvSpPr/>
            <p:nvPr/>
          </p:nvSpPr>
          <p:spPr>
            <a:xfrm>
              <a:off x="17787" y="-267"/>
              <a:ext cx="3427675" cy="2106424"/>
            </a:xfrm>
            <a:custGeom>
              <a:avLst/>
              <a:gdLst/>
              <a:ahLst/>
              <a:cxnLst/>
              <a:rect l="l" t="t" r="r" b="b"/>
              <a:pathLst>
                <a:path w="3427675" h="2106424">
                  <a:moveTo>
                    <a:pt x="3407619" y="799097"/>
                  </a:moveTo>
                  <a:cubicBezTo>
                    <a:pt x="3406116" y="623837"/>
                    <a:pt x="3394098" y="411747"/>
                    <a:pt x="3394098" y="221247"/>
                  </a:cubicBezTo>
                  <a:cubicBezTo>
                    <a:pt x="3394098" y="169177"/>
                    <a:pt x="3392595" y="65037"/>
                    <a:pt x="3385083" y="12967"/>
                  </a:cubicBezTo>
                  <a:cubicBezTo>
                    <a:pt x="3204799" y="12967"/>
                    <a:pt x="3010993" y="267"/>
                    <a:pt x="2829206" y="267"/>
                  </a:cubicBezTo>
                  <a:cubicBezTo>
                    <a:pt x="1884215" y="2807"/>
                    <a:pt x="948238" y="-1003"/>
                    <a:pt x="4749" y="267"/>
                  </a:cubicBezTo>
                  <a:cubicBezTo>
                    <a:pt x="4749" y="170447"/>
                    <a:pt x="-1261" y="359677"/>
                    <a:pt x="241" y="529857"/>
                  </a:cubicBezTo>
                  <a:cubicBezTo>
                    <a:pt x="3246" y="847357"/>
                    <a:pt x="7753" y="1166127"/>
                    <a:pt x="7753" y="1483627"/>
                  </a:cubicBezTo>
                  <a:cubicBezTo>
                    <a:pt x="7753" y="1637297"/>
                    <a:pt x="6251" y="1789697"/>
                    <a:pt x="15265" y="1943367"/>
                  </a:cubicBezTo>
                  <a:cubicBezTo>
                    <a:pt x="18270" y="1992897"/>
                    <a:pt x="21275" y="2041157"/>
                    <a:pt x="27284" y="2090687"/>
                  </a:cubicBezTo>
                  <a:cubicBezTo>
                    <a:pt x="225597" y="2093227"/>
                    <a:pt x="422408" y="2097037"/>
                    <a:pt x="620721" y="2102117"/>
                  </a:cubicBezTo>
                  <a:cubicBezTo>
                    <a:pt x="1148053" y="2114817"/>
                    <a:pt x="1660361" y="2094497"/>
                    <a:pt x="2204220" y="2103387"/>
                  </a:cubicBezTo>
                  <a:cubicBezTo>
                    <a:pt x="2614367" y="2109737"/>
                    <a:pt x="3017002" y="2090687"/>
                    <a:pt x="3424826" y="2090687"/>
                  </a:cubicBezTo>
                  <a:cubicBezTo>
                    <a:pt x="3424826" y="2074177"/>
                    <a:pt x="3426096" y="1977657"/>
                    <a:pt x="3427366" y="1961147"/>
                  </a:cubicBezTo>
                  <a:cubicBezTo>
                    <a:pt x="3429906" y="1862087"/>
                    <a:pt x="3415936" y="1676667"/>
                    <a:pt x="3417206" y="1577607"/>
                  </a:cubicBezTo>
                  <a:cubicBezTo>
                    <a:pt x="3423556" y="1169937"/>
                    <a:pt x="3410624" y="1150887"/>
                    <a:pt x="3407619" y="799097"/>
                  </a:cubicBezTo>
                  <a:close/>
                </a:path>
              </a:pathLst>
            </a:custGeom>
            <a:blipFill>
              <a:blip r:embed="rId4"/>
              <a:stretch>
                <a:fillRect l="-518" t="-9629" r="-527" b="-9625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5278558" y="1687957"/>
            <a:ext cx="11719999" cy="7674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6735" lvl="1" indent="-278368" algn="l">
              <a:lnSpc>
                <a:spcPts val="3610"/>
              </a:lnSpc>
              <a:spcBef>
                <a:spcPct val="0"/>
              </a:spcBef>
              <a:buFont typeface="Arial"/>
              <a:buChar char="•"/>
            </a:pPr>
            <a:r>
              <a:rPr lang="en-US" sz="2578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PRINCIPLE :</a:t>
            </a:r>
          </a:p>
          <a:p>
            <a:pPr algn="l">
              <a:lnSpc>
                <a:spcPts val="3332"/>
              </a:lnSpc>
              <a:spcBef>
                <a:spcPct val="0"/>
              </a:spcBef>
            </a:pPr>
            <a:r>
              <a:rPr lang="en-US" sz="238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A* IS AN INFORMED SEARCH ALGORITHM THAT USES GUIDANCE (A HEURISTIC FUNCTION) TO PRIORITIZE AND ACCELERATE THE SEARCH PROCESS.</a:t>
            </a:r>
          </a:p>
          <a:p>
            <a:pPr marL="556735" lvl="1" indent="-278368" algn="l">
              <a:lnSpc>
                <a:spcPts val="3610"/>
              </a:lnSpc>
              <a:spcBef>
                <a:spcPct val="0"/>
              </a:spcBef>
              <a:buFont typeface="Arial"/>
              <a:buChar char="•"/>
            </a:pPr>
            <a:r>
              <a:rPr lang="en-US" sz="2578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COST FUNCTION : </a:t>
            </a:r>
          </a:p>
          <a:p>
            <a:pPr algn="l">
              <a:lnSpc>
                <a:spcPts val="3332"/>
              </a:lnSpc>
            </a:pPr>
            <a:r>
              <a:rPr lang="en-US" sz="238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PRIORITY IS DETERMINED BY THE MINIMUM F(N) VALUE IN THE PRIORITY QUEUE, WHERE:</a:t>
            </a:r>
          </a:p>
          <a:p>
            <a:pPr algn="l">
              <a:lnSpc>
                <a:spcPts val="3332"/>
              </a:lnSpc>
            </a:pPr>
            <a:r>
              <a:rPr lang="en-US" sz="238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F(N) = G(N) + H(N)</a:t>
            </a:r>
          </a:p>
          <a:p>
            <a:pPr marL="513911" lvl="1" indent="-256955" algn="l">
              <a:lnSpc>
                <a:spcPts val="3332"/>
              </a:lnSpc>
              <a:buAutoNum type="arabicPeriod"/>
            </a:pPr>
            <a:r>
              <a:rPr lang="en-US" sz="238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G(N) (ACTUAL COST) : THE COST (NUMBER OF STEPS) FROM THE SNAKE'S HEAD TO NODE N.</a:t>
            </a:r>
          </a:p>
          <a:p>
            <a:pPr marL="513911" lvl="1" indent="-256955" algn="l">
              <a:lnSpc>
                <a:spcPts val="3332"/>
              </a:lnSpc>
              <a:buAutoNum type="arabicPeriod"/>
            </a:pPr>
            <a:r>
              <a:rPr lang="en-US" sz="238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H(N) (HEURISTIC) : THE GUIDANCE FUNCTION USED IS THE MANHATTAN DISTANCE, WHICH PROVIDES A RELIABLE ESTIMATE OF THE REMAINING DISTANCE TO THE GOAL.</a:t>
            </a:r>
          </a:p>
          <a:p>
            <a:pPr marL="556735" lvl="1" indent="-278368" algn="l">
              <a:lnSpc>
                <a:spcPts val="3610"/>
              </a:lnSpc>
              <a:buFont typeface="Arial"/>
              <a:buChar char="•"/>
            </a:pPr>
            <a:r>
              <a:rPr lang="en-US" sz="2578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IMPLEMENTATION :</a:t>
            </a:r>
          </a:p>
          <a:p>
            <a:pPr algn="l">
              <a:lnSpc>
                <a:spcPts val="3332"/>
              </a:lnSpc>
            </a:pPr>
            <a:r>
              <a:rPr lang="en-US" sz="238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IT IS IMPLEMENTED USING HEAPQ TO REPRESENT A PRIORITY QUEUE, ALWAYS SELECTING THE NODE WITH THE LOWEST CALCULATED $F$ VALUE.</a:t>
            </a:r>
          </a:p>
          <a:p>
            <a:pPr marL="556735" lvl="1" indent="-278368" algn="l">
              <a:lnSpc>
                <a:spcPts val="3610"/>
              </a:lnSpc>
              <a:spcBef>
                <a:spcPct val="0"/>
              </a:spcBef>
              <a:buFont typeface="Arial"/>
              <a:buChar char="•"/>
            </a:pPr>
            <a:r>
              <a:rPr lang="en-US" sz="2578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EFFICIENCY (THE ADVANTAGE) :</a:t>
            </a:r>
          </a:p>
          <a:p>
            <a:pPr algn="l">
              <a:lnSpc>
                <a:spcPts val="3332"/>
              </a:lnSpc>
            </a:pPr>
            <a:r>
              <a:rPr lang="en-US" sz="238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COMPUTATIONAL SAVING: IT EXPANDS SIGNIFICANTLY FEWER NODES THAN BFS, AS THE HEURISTIC GUIDES THE SEARCH DIRECTLY TOWARDS THE TARGET, RESULTING IN SUPERIOR COMPUTATIONAL EFFICIENCY</a:t>
            </a:r>
          </a:p>
          <a:p>
            <a:pPr algn="l">
              <a:lnSpc>
                <a:spcPts val="3332"/>
              </a:lnSpc>
              <a:spcBef>
                <a:spcPct val="0"/>
              </a:spcBef>
            </a:pPr>
            <a:endParaRPr lang="en-US" sz="2380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823192" y="803374"/>
            <a:ext cx="9185335" cy="754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3"/>
              </a:lnSpc>
            </a:pPr>
            <a:r>
              <a:rPr lang="en-US" sz="2799">
                <a:solidFill>
                  <a:srgbClr val="39FF14"/>
                </a:solidFill>
                <a:latin typeface="Pixellet TH"/>
                <a:ea typeface="Pixellet TH"/>
                <a:cs typeface="Pixellet TH"/>
                <a:sym typeface="Pixellet TH"/>
              </a:rPr>
              <a:t>A* ALGORITHM: EFFICIENCY THROUGH HEURISTIC GUIDANCE</a:t>
            </a:r>
          </a:p>
        </p:txBody>
      </p:sp>
      <p:sp>
        <p:nvSpPr>
          <p:cNvPr id="9" name="Freeform 9"/>
          <p:cNvSpPr/>
          <p:nvPr/>
        </p:nvSpPr>
        <p:spPr>
          <a:xfrm>
            <a:off x="3594542" y="2719335"/>
            <a:ext cx="1130625" cy="1225610"/>
          </a:xfrm>
          <a:custGeom>
            <a:avLst/>
            <a:gdLst/>
            <a:ahLst/>
            <a:cxnLst/>
            <a:rect l="l" t="t" r="r" b="b"/>
            <a:pathLst>
              <a:path w="1130625" h="1225610">
                <a:moveTo>
                  <a:pt x="0" y="0"/>
                </a:moveTo>
                <a:lnTo>
                  <a:pt x="1130625" y="0"/>
                </a:lnTo>
                <a:lnTo>
                  <a:pt x="1130625" y="1225610"/>
                </a:lnTo>
                <a:lnTo>
                  <a:pt x="0" y="12256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-1982169" y="4209824"/>
            <a:ext cx="6568872" cy="6486761"/>
          </a:xfrm>
          <a:custGeom>
            <a:avLst/>
            <a:gdLst/>
            <a:ahLst/>
            <a:cxnLst/>
            <a:rect l="l" t="t" r="r" b="b"/>
            <a:pathLst>
              <a:path w="6568872" h="6486761">
                <a:moveTo>
                  <a:pt x="6568873" y="0"/>
                </a:moveTo>
                <a:lnTo>
                  <a:pt x="0" y="0"/>
                </a:lnTo>
                <a:lnTo>
                  <a:pt x="0" y="6486761"/>
                </a:lnTo>
                <a:lnTo>
                  <a:pt x="6568873" y="6486761"/>
                </a:lnTo>
                <a:lnTo>
                  <a:pt x="656887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2">
            <a:extLst>
              <a:ext uri="{FF2B5EF4-FFF2-40B4-BE49-F238E27FC236}">
                <a16:creationId xmlns:a16="http://schemas.microsoft.com/office/drawing/2014/main" id="{F63A69F6-BB6F-406C-1B14-43ECA700F25F}"/>
              </a:ext>
            </a:extLst>
          </p:cNvPr>
          <p:cNvSpPr/>
          <p:nvPr/>
        </p:nvSpPr>
        <p:spPr>
          <a:xfrm rot="162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2847320" h="18288000">
                <a:moveTo>
                  <a:pt x="0" y="0"/>
                </a:moveTo>
                <a:lnTo>
                  <a:pt x="12847320" y="0"/>
                </a:lnTo>
                <a:lnTo>
                  <a:pt x="1284732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w="200025" cap="sq">
            <a:solidFill>
              <a:srgbClr val="39FF14"/>
            </a:solidFill>
            <a:prstDash val="solid"/>
            <a:miter/>
          </a:ln>
        </p:spPr>
      </p:sp>
    </p:spTree>
  </p:cSld>
  <p:clrMapOvr>
    <a:masterClrMapping/>
  </p:clrMapOvr>
  <p:transition spd="slow">
    <p:strips dir="r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5279529" y="284159"/>
            <a:ext cx="3008471" cy="1783413"/>
          </a:xfrm>
          <a:custGeom>
            <a:avLst/>
            <a:gdLst/>
            <a:ahLst/>
            <a:cxnLst/>
            <a:rect l="l" t="t" r="r" b="b"/>
            <a:pathLst>
              <a:path w="3008471" h="1783413">
                <a:moveTo>
                  <a:pt x="0" y="0"/>
                </a:moveTo>
                <a:lnTo>
                  <a:pt x="3008471" y="0"/>
                </a:lnTo>
                <a:lnTo>
                  <a:pt x="3008471" y="1783413"/>
                </a:lnTo>
                <a:lnTo>
                  <a:pt x="0" y="17834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908" r="-353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25943" y="223632"/>
            <a:ext cx="2152650" cy="1904467"/>
          </a:xfrm>
          <a:custGeom>
            <a:avLst/>
            <a:gdLst/>
            <a:ahLst/>
            <a:cxnLst/>
            <a:rect l="l" t="t" r="r" b="b"/>
            <a:pathLst>
              <a:path w="2152650" h="1904467">
                <a:moveTo>
                  <a:pt x="0" y="0"/>
                </a:moveTo>
                <a:lnTo>
                  <a:pt x="2152650" y="0"/>
                </a:lnTo>
                <a:lnTo>
                  <a:pt x="2152650" y="1904467"/>
                </a:lnTo>
                <a:lnTo>
                  <a:pt x="0" y="1904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3531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587015" y="1899558"/>
            <a:ext cx="8556985" cy="7570104"/>
            <a:chOff x="0" y="0"/>
            <a:chExt cx="2378730" cy="2104390"/>
          </a:xfrm>
        </p:grpSpPr>
        <p:sp>
          <p:nvSpPr>
            <p:cNvPr id="6" name="Freeform 6"/>
            <p:cNvSpPr/>
            <p:nvPr/>
          </p:nvSpPr>
          <p:spPr>
            <a:xfrm>
              <a:off x="12336" y="-267"/>
              <a:ext cx="2381944" cy="2106424"/>
            </a:xfrm>
            <a:custGeom>
              <a:avLst/>
              <a:gdLst/>
              <a:ahLst/>
              <a:cxnLst/>
              <a:rect l="l" t="t" r="r" b="b"/>
              <a:pathLst>
                <a:path w="2381944" h="2106424">
                  <a:moveTo>
                    <a:pt x="2363268" y="799097"/>
                  </a:moveTo>
                  <a:cubicBezTo>
                    <a:pt x="2362226" y="623837"/>
                    <a:pt x="2353891" y="411747"/>
                    <a:pt x="2353891" y="221247"/>
                  </a:cubicBezTo>
                  <a:cubicBezTo>
                    <a:pt x="2353891" y="169177"/>
                    <a:pt x="2352849" y="65037"/>
                    <a:pt x="2347639" y="12967"/>
                  </a:cubicBezTo>
                  <a:cubicBezTo>
                    <a:pt x="2222608" y="12967"/>
                    <a:pt x="2088198" y="267"/>
                    <a:pt x="1962125" y="267"/>
                  </a:cubicBezTo>
                  <a:cubicBezTo>
                    <a:pt x="1306750" y="2807"/>
                    <a:pt x="657626" y="-1003"/>
                    <a:pt x="3293" y="267"/>
                  </a:cubicBezTo>
                  <a:cubicBezTo>
                    <a:pt x="3293" y="170447"/>
                    <a:pt x="-875" y="359677"/>
                    <a:pt x="167" y="529857"/>
                  </a:cubicBezTo>
                  <a:cubicBezTo>
                    <a:pt x="2251" y="847357"/>
                    <a:pt x="5377" y="1166127"/>
                    <a:pt x="5377" y="1483627"/>
                  </a:cubicBezTo>
                  <a:cubicBezTo>
                    <a:pt x="5377" y="1637297"/>
                    <a:pt x="4335" y="1789697"/>
                    <a:pt x="10586" y="1943367"/>
                  </a:cubicBezTo>
                  <a:cubicBezTo>
                    <a:pt x="12670" y="1992897"/>
                    <a:pt x="14754" y="2041157"/>
                    <a:pt x="18922" y="2090687"/>
                  </a:cubicBezTo>
                  <a:cubicBezTo>
                    <a:pt x="156457" y="2093227"/>
                    <a:pt x="292950" y="2097037"/>
                    <a:pt x="430485" y="2102117"/>
                  </a:cubicBezTo>
                  <a:cubicBezTo>
                    <a:pt x="796203" y="2114817"/>
                    <a:pt x="1151502" y="2094497"/>
                    <a:pt x="1528681" y="2103387"/>
                  </a:cubicBezTo>
                  <a:cubicBezTo>
                    <a:pt x="1813128" y="2109737"/>
                    <a:pt x="2092366" y="2090687"/>
                    <a:pt x="2379094" y="2090687"/>
                  </a:cubicBezTo>
                  <a:cubicBezTo>
                    <a:pt x="2379094" y="2074177"/>
                    <a:pt x="2380364" y="1977657"/>
                    <a:pt x="2381634" y="1961147"/>
                  </a:cubicBezTo>
                  <a:cubicBezTo>
                    <a:pt x="2384174" y="1862087"/>
                    <a:pt x="2370204" y="1676667"/>
                    <a:pt x="2371474" y="1577607"/>
                  </a:cubicBezTo>
                  <a:cubicBezTo>
                    <a:pt x="2377824" y="1169937"/>
                    <a:pt x="2365352" y="1150887"/>
                    <a:pt x="2363268" y="799097"/>
                  </a:cubicBezTo>
                  <a:close/>
                </a:path>
              </a:pathLst>
            </a:custGeom>
            <a:blipFill>
              <a:blip r:embed="rId4"/>
              <a:stretch>
                <a:fillRect l="-10867" t="-12" r="-11094" b="-12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841532" y="2032849"/>
            <a:ext cx="8302468" cy="6918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IMPORT PYGAME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IMPORT SYS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IMPORT RANDOM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FROM COLLECTIONS IMPORT DEQUE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IMPORT HEAPQ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# =============[ SETTINGS ]=================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CELL_SIZE = 32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GRID_W, GRID_H = 20, 20 # GRID WIDTH AND HEIGHT IN CELLS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BOARD_W = GRID_W * CELL_SIZE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BOARD_H = GRID_H * CELL_SIZE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PANEL_H = 120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WINDOW_W = BOARD_W * 2   # TWO BOARDS: BFS (LEFT) + A* (RIGHT)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WINDOW_H = BOARD_H + PANEL_H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FPS = 16 # GAME UPDATE RATE (FRAMES PER SECOND)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1169"/>
              </a:lnSpc>
              <a:spcBef>
                <a:spcPct val="0"/>
              </a:spcBef>
            </a:pPr>
            <a:r>
              <a:rPr lang="en-US" sz="835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\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51333" y="827659"/>
            <a:ext cx="9185335" cy="411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3"/>
              </a:lnSpc>
            </a:pPr>
            <a:r>
              <a:rPr lang="en-US" sz="2799">
                <a:solidFill>
                  <a:srgbClr val="39FF14"/>
                </a:solidFill>
                <a:latin typeface="Pixellet TH"/>
                <a:ea typeface="Pixellet TH"/>
                <a:cs typeface="Pixellet TH"/>
                <a:sym typeface="Pixellet TH"/>
              </a:rPr>
              <a:t>PROJECT ARCHITECTURE AND CORE SETTINGS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334350" y="1899558"/>
            <a:ext cx="8556985" cy="7570104"/>
            <a:chOff x="0" y="0"/>
            <a:chExt cx="2378730" cy="2104390"/>
          </a:xfrm>
        </p:grpSpPr>
        <p:sp>
          <p:nvSpPr>
            <p:cNvPr id="10" name="Freeform 10"/>
            <p:cNvSpPr/>
            <p:nvPr/>
          </p:nvSpPr>
          <p:spPr>
            <a:xfrm>
              <a:off x="12336" y="-267"/>
              <a:ext cx="2381944" cy="2106424"/>
            </a:xfrm>
            <a:custGeom>
              <a:avLst/>
              <a:gdLst/>
              <a:ahLst/>
              <a:cxnLst/>
              <a:rect l="l" t="t" r="r" b="b"/>
              <a:pathLst>
                <a:path w="2381944" h="2106424">
                  <a:moveTo>
                    <a:pt x="2363268" y="799097"/>
                  </a:moveTo>
                  <a:cubicBezTo>
                    <a:pt x="2362226" y="623837"/>
                    <a:pt x="2353891" y="411747"/>
                    <a:pt x="2353891" y="221247"/>
                  </a:cubicBezTo>
                  <a:cubicBezTo>
                    <a:pt x="2353891" y="169177"/>
                    <a:pt x="2352849" y="65037"/>
                    <a:pt x="2347639" y="12967"/>
                  </a:cubicBezTo>
                  <a:cubicBezTo>
                    <a:pt x="2222608" y="12967"/>
                    <a:pt x="2088198" y="267"/>
                    <a:pt x="1962125" y="267"/>
                  </a:cubicBezTo>
                  <a:cubicBezTo>
                    <a:pt x="1306750" y="2807"/>
                    <a:pt x="657626" y="-1003"/>
                    <a:pt x="3293" y="267"/>
                  </a:cubicBezTo>
                  <a:cubicBezTo>
                    <a:pt x="3293" y="170447"/>
                    <a:pt x="-875" y="359677"/>
                    <a:pt x="167" y="529857"/>
                  </a:cubicBezTo>
                  <a:cubicBezTo>
                    <a:pt x="2251" y="847357"/>
                    <a:pt x="5377" y="1166127"/>
                    <a:pt x="5377" y="1483627"/>
                  </a:cubicBezTo>
                  <a:cubicBezTo>
                    <a:pt x="5377" y="1637297"/>
                    <a:pt x="4335" y="1789697"/>
                    <a:pt x="10586" y="1943367"/>
                  </a:cubicBezTo>
                  <a:cubicBezTo>
                    <a:pt x="12670" y="1992897"/>
                    <a:pt x="14754" y="2041157"/>
                    <a:pt x="18922" y="2090687"/>
                  </a:cubicBezTo>
                  <a:cubicBezTo>
                    <a:pt x="156457" y="2093227"/>
                    <a:pt x="292950" y="2097037"/>
                    <a:pt x="430485" y="2102117"/>
                  </a:cubicBezTo>
                  <a:cubicBezTo>
                    <a:pt x="796203" y="2114817"/>
                    <a:pt x="1151502" y="2094497"/>
                    <a:pt x="1528681" y="2103387"/>
                  </a:cubicBezTo>
                  <a:cubicBezTo>
                    <a:pt x="1813128" y="2109737"/>
                    <a:pt x="2092366" y="2090687"/>
                    <a:pt x="2379094" y="2090687"/>
                  </a:cubicBezTo>
                  <a:cubicBezTo>
                    <a:pt x="2379094" y="2074177"/>
                    <a:pt x="2380364" y="1977657"/>
                    <a:pt x="2381634" y="1961147"/>
                  </a:cubicBezTo>
                  <a:cubicBezTo>
                    <a:pt x="2384174" y="1862087"/>
                    <a:pt x="2370204" y="1676667"/>
                    <a:pt x="2371474" y="1577607"/>
                  </a:cubicBezTo>
                  <a:cubicBezTo>
                    <a:pt x="2377824" y="1169937"/>
                    <a:pt x="2365352" y="1150887"/>
                    <a:pt x="2363268" y="799097"/>
                  </a:cubicBezTo>
                  <a:close/>
                </a:path>
              </a:pathLst>
            </a:custGeom>
            <a:blipFill>
              <a:blip r:embed="rId4"/>
              <a:stretch>
                <a:fillRect l="-10533" t="-12" r="-11427" b="-12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9531032" y="2051899"/>
            <a:ext cx="8097251" cy="7329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0"/>
              </a:lnSpc>
            </a:pPr>
            <a:r>
              <a:rPr lang="en-US" sz="172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# COLORS</a:t>
            </a:r>
          </a:p>
          <a:p>
            <a:pPr algn="l">
              <a:lnSpc>
                <a:spcPts val="2410"/>
              </a:lnSpc>
            </a:pPr>
            <a:r>
              <a:rPr lang="en-US" sz="172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WHITE = (255, 255, 255)</a:t>
            </a:r>
          </a:p>
          <a:p>
            <a:pPr algn="l">
              <a:lnSpc>
                <a:spcPts val="2410"/>
              </a:lnSpc>
            </a:pPr>
            <a:r>
              <a:rPr lang="en-US" sz="172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GRAY = (70, 70, 70)</a:t>
            </a:r>
          </a:p>
          <a:p>
            <a:pPr algn="l">
              <a:lnSpc>
                <a:spcPts val="2410"/>
              </a:lnSpc>
            </a:pPr>
            <a:r>
              <a:rPr lang="en-US" sz="172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GREEN = (0, 200, 0)</a:t>
            </a:r>
          </a:p>
          <a:p>
            <a:pPr algn="l">
              <a:lnSpc>
                <a:spcPts val="2410"/>
              </a:lnSpc>
            </a:pPr>
            <a:r>
              <a:rPr lang="en-US" sz="172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RED  = (230, 60, 60)</a:t>
            </a:r>
          </a:p>
          <a:p>
            <a:pPr algn="l">
              <a:lnSpc>
                <a:spcPts val="2410"/>
              </a:lnSpc>
            </a:pPr>
            <a:r>
              <a:rPr lang="en-US" sz="172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YELLOW = (255, 240, 0)</a:t>
            </a:r>
          </a:p>
          <a:p>
            <a:pPr algn="l">
              <a:lnSpc>
                <a:spcPts val="2410"/>
              </a:lnSpc>
            </a:pPr>
            <a:r>
              <a:rPr lang="en-US" sz="172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BLUE = (60, 130, 255)</a:t>
            </a:r>
          </a:p>
          <a:p>
            <a:pPr algn="l">
              <a:lnSpc>
                <a:spcPts val="2410"/>
              </a:lnSpc>
            </a:pPr>
            <a:r>
              <a:rPr lang="en-US" sz="172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PURPLE = (190, 60, 210)</a:t>
            </a:r>
          </a:p>
          <a:p>
            <a:pPr algn="l">
              <a:lnSpc>
                <a:spcPts val="2410"/>
              </a:lnSpc>
            </a:pPr>
            <a:r>
              <a:rPr lang="en-US" sz="172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DARK = (22, 22, 26)</a:t>
            </a:r>
          </a:p>
          <a:p>
            <a:pPr algn="l">
              <a:lnSpc>
                <a:spcPts val="2410"/>
              </a:lnSpc>
            </a:pPr>
            <a:r>
              <a:rPr lang="en-US" sz="172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DARK2 = (35, 35, 45)</a:t>
            </a:r>
          </a:p>
          <a:p>
            <a:pPr algn="l">
              <a:lnSpc>
                <a:spcPts val="2410"/>
              </a:lnSpc>
            </a:pPr>
            <a:r>
              <a:rPr lang="en-US" sz="172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BORDER = (200, 200, 200)</a:t>
            </a:r>
          </a:p>
          <a:p>
            <a:pPr algn="l">
              <a:lnSpc>
                <a:spcPts val="2410"/>
              </a:lnSpc>
            </a:pPr>
            <a:endParaRPr lang="en-US" sz="1721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2410"/>
              </a:lnSpc>
              <a:spcBef>
                <a:spcPct val="0"/>
              </a:spcBef>
            </a:pPr>
            <a:r>
              <a:rPr lang="en-US" sz="172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# =============[ PATHFINDING UTILITIES ]=================</a:t>
            </a:r>
          </a:p>
          <a:p>
            <a:pPr algn="l">
              <a:lnSpc>
                <a:spcPts val="2410"/>
              </a:lnSpc>
              <a:spcBef>
                <a:spcPct val="0"/>
              </a:spcBef>
            </a:pPr>
            <a:r>
              <a:rPr lang="en-US" sz="172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DEF GET_NEIGHBORS(NODE):</a:t>
            </a:r>
          </a:p>
          <a:p>
            <a:pPr algn="l">
              <a:lnSpc>
                <a:spcPts val="2410"/>
              </a:lnSpc>
              <a:spcBef>
                <a:spcPct val="0"/>
              </a:spcBef>
            </a:pPr>
            <a:r>
              <a:rPr lang="en-US" sz="172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"""RETURN ALL VALID NEIGHBORING GRID CELLS (4-DIRECTIONAL MOVEMENT)."""</a:t>
            </a:r>
          </a:p>
          <a:p>
            <a:pPr algn="l">
              <a:lnSpc>
                <a:spcPts val="2410"/>
              </a:lnSpc>
              <a:spcBef>
                <a:spcPct val="0"/>
              </a:spcBef>
            </a:pPr>
            <a:r>
              <a:rPr lang="en-US" sz="172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X, Y = NODE</a:t>
            </a:r>
          </a:p>
          <a:p>
            <a:pPr algn="l">
              <a:lnSpc>
                <a:spcPts val="2410"/>
              </a:lnSpc>
              <a:spcBef>
                <a:spcPct val="0"/>
              </a:spcBef>
            </a:pPr>
            <a:r>
              <a:rPr lang="en-US" sz="172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DIRS = [(1, 0), (-1, 0), (0, 1), (0, -1)]</a:t>
            </a:r>
          </a:p>
          <a:p>
            <a:pPr algn="l">
              <a:lnSpc>
                <a:spcPts val="2410"/>
              </a:lnSpc>
              <a:spcBef>
                <a:spcPct val="0"/>
              </a:spcBef>
            </a:pPr>
            <a:r>
              <a:rPr lang="en-US" sz="172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RES = []</a:t>
            </a:r>
          </a:p>
          <a:p>
            <a:pPr algn="l">
              <a:lnSpc>
                <a:spcPts val="2410"/>
              </a:lnSpc>
              <a:spcBef>
                <a:spcPct val="0"/>
              </a:spcBef>
            </a:pPr>
            <a:r>
              <a:rPr lang="en-US" sz="172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FOR DX, DY IN DIRS:</a:t>
            </a:r>
          </a:p>
          <a:p>
            <a:pPr algn="l">
              <a:lnSpc>
                <a:spcPts val="2410"/>
              </a:lnSpc>
              <a:spcBef>
                <a:spcPct val="0"/>
              </a:spcBef>
            </a:pPr>
            <a:r>
              <a:rPr lang="en-US" sz="172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NX, NY = X + DX, Y + DY</a:t>
            </a:r>
          </a:p>
          <a:p>
            <a:pPr algn="l">
              <a:lnSpc>
                <a:spcPts val="2410"/>
              </a:lnSpc>
              <a:spcBef>
                <a:spcPct val="0"/>
              </a:spcBef>
            </a:pPr>
            <a:r>
              <a:rPr lang="en-US" sz="172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IF 0 &lt;= NX &lt; GRID_W AND 0 &lt;= NY &lt; GRID_H:</a:t>
            </a:r>
          </a:p>
          <a:p>
            <a:pPr algn="l">
              <a:lnSpc>
                <a:spcPts val="2410"/>
              </a:lnSpc>
              <a:spcBef>
                <a:spcPct val="0"/>
              </a:spcBef>
            </a:pPr>
            <a:r>
              <a:rPr lang="en-US" sz="172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RES.APPEND((NX, NY))</a:t>
            </a:r>
          </a:p>
          <a:p>
            <a:pPr algn="l">
              <a:lnSpc>
                <a:spcPts val="2410"/>
              </a:lnSpc>
              <a:spcBef>
                <a:spcPct val="0"/>
              </a:spcBef>
            </a:pPr>
            <a:r>
              <a:rPr lang="en-US" sz="172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RETURN RES</a:t>
            </a:r>
          </a:p>
          <a:p>
            <a:pPr algn="l">
              <a:lnSpc>
                <a:spcPts val="2270"/>
              </a:lnSpc>
              <a:spcBef>
                <a:spcPct val="0"/>
              </a:spcBef>
            </a:pPr>
            <a:endParaRPr lang="en-US" sz="1721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</p:txBody>
      </p:sp>
      <p:sp>
        <p:nvSpPr>
          <p:cNvPr id="12" name="Freeform 2">
            <a:extLst>
              <a:ext uri="{FF2B5EF4-FFF2-40B4-BE49-F238E27FC236}">
                <a16:creationId xmlns:a16="http://schemas.microsoft.com/office/drawing/2014/main" id="{A66E8EE1-B097-5B3B-C1D5-F10D4F092BD7}"/>
              </a:ext>
            </a:extLst>
          </p:cNvPr>
          <p:cNvSpPr/>
          <p:nvPr/>
        </p:nvSpPr>
        <p:spPr>
          <a:xfrm rot="162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2847320" h="18288000">
                <a:moveTo>
                  <a:pt x="0" y="0"/>
                </a:moveTo>
                <a:lnTo>
                  <a:pt x="12847320" y="0"/>
                </a:lnTo>
                <a:lnTo>
                  <a:pt x="1284732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w="200025" cap="sq">
            <a:solidFill>
              <a:srgbClr val="39FF14"/>
            </a:solidFill>
            <a:prstDash val="solid"/>
            <a:miter/>
          </a:ln>
        </p:spPr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5279529" y="284159"/>
            <a:ext cx="3008471" cy="1783413"/>
          </a:xfrm>
          <a:custGeom>
            <a:avLst/>
            <a:gdLst/>
            <a:ahLst/>
            <a:cxnLst/>
            <a:rect l="l" t="t" r="r" b="b"/>
            <a:pathLst>
              <a:path w="3008471" h="1783413">
                <a:moveTo>
                  <a:pt x="0" y="0"/>
                </a:moveTo>
                <a:lnTo>
                  <a:pt x="3008471" y="0"/>
                </a:lnTo>
                <a:lnTo>
                  <a:pt x="3008471" y="1783413"/>
                </a:lnTo>
                <a:lnTo>
                  <a:pt x="0" y="17834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908" r="-353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25943" y="223632"/>
            <a:ext cx="2152650" cy="1904467"/>
          </a:xfrm>
          <a:custGeom>
            <a:avLst/>
            <a:gdLst/>
            <a:ahLst/>
            <a:cxnLst/>
            <a:rect l="l" t="t" r="r" b="b"/>
            <a:pathLst>
              <a:path w="2152650" h="1904467">
                <a:moveTo>
                  <a:pt x="0" y="0"/>
                </a:moveTo>
                <a:lnTo>
                  <a:pt x="2152650" y="0"/>
                </a:lnTo>
                <a:lnTo>
                  <a:pt x="2152650" y="1904467"/>
                </a:lnTo>
                <a:lnTo>
                  <a:pt x="0" y="1904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3531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587015" y="1899558"/>
            <a:ext cx="8556985" cy="7570104"/>
            <a:chOff x="0" y="0"/>
            <a:chExt cx="2378730" cy="2104390"/>
          </a:xfrm>
        </p:grpSpPr>
        <p:sp>
          <p:nvSpPr>
            <p:cNvPr id="6" name="Freeform 6"/>
            <p:cNvSpPr/>
            <p:nvPr/>
          </p:nvSpPr>
          <p:spPr>
            <a:xfrm>
              <a:off x="12336" y="-267"/>
              <a:ext cx="2381944" cy="2106424"/>
            </a:xfrm>
            <a:custGeom>
              <a:avLst/>
              <a:gdLst/>
              <a:ahLst/>
              <a:cxnLst/>
              <a:rect l="l" t="t" r="r" b="b"/>
              <a:pathLst>
                <a:path w="2381944" h="2106424">
                  <a:moveTo>
                    <a:pt x="2363268" y="799097"/>
                  </a:moveTo>
                  <a:cubicBezTo>
                    <a:pt x="2362226" y="623837"/>
                    <a:pt x="2353891" y="411747"/>
                    <a:pt x="2353891" y="221247"/>
                  </a:cubicBezTo>
                  <a:cubicBezTo>
                    <a:pt x="2353891" y="169177"/>
                    <a:pt x="2352849" y="65037"/>
                    <a:pt x="2347639" y="12967"/>
                  </a:cubicBezTo>
                  <a:cubicBezTo>
                    <a:pt x="2222608" y="12967"/>
                    <a:pt x="2088198" y="267"/>
                    <a:pt x="1962125" y="267"/>
                  </a:cubicBezTo>
                  <a:cubicBezTo>
                    <a:pt x="1306750" y="2807"/>
                    <a:pt x="657626" y="-1003"/>
                    <a:pt x="3293" y="267"/>
                  </a:cubicBezTo>
                  <a:cubicBezTo>
                    <a:pt x="3293" y="170447"/>
                    <a:pt x="-875" y="359677"/>
                    <a:pt x="167" y="529857"/>
                  </a:cubicBezTo>
                  <a:cubicBezTo>
                    <a:pt x="2251" y="847357"/>
                    <a:pt x="5377" y="1166127"/>
                    <a:pt x="5377" y="1483627"/>
                  </a:cubicBezTo>
                  <a:cubicBezTo>
                    <a:pt x="5377" y="1637297"/>
                    <a:pt x="4335" y="1789697"/>
                    <a:pt x="10586" y="1943367"/>
                  </a:cubicBezTo>
                  <a:cubicBezTo>
                    <a:pt x="12670" y="1992897"/>
                    <a:pt x="14754" y="2041157"/>
                    <a:pt x="18922" y="2090687"/>
                  </a:cubicBezTo>
                  <a:cubicBezTo>
                    <a:pt x="156457" y="2093227"/>
                    <a:pt x="292950" y="2097037"/>
                    <a:pt x="430485" y="2102117"/>
                  </a:cubicBezTo>
                  <a:cubicBezTo>
                    <a:pt x="796203" y="2114817"/>
                    <a:pt x="1151502" y="2094497"/>
                    <a:pt x="1528681" y="2103387"/>
                  </a:cubicBezTo>
                  <a:cubicBezTo>
                    <a:pt x="1813128" y="2109737"/>
                    <a:pt x="2092366" y="2090687"/>
                    <a:pt x="2379094" y="2090687"/>
                  </a:cubicBezTo>
                  <a:cubicBezTo>
                    <a:pt x="2379094" y="2074177"/>
                    <a:pt x="2380364" y="1977657"/>
                    <a:pt x="2381634" y="1961147"/>
                  </a:cubicBezTo>
                  <a:cubicBezTo>
                    <a:pt x="2384174" y="1862087"/>
                    <a:pt x="2370204" y="1676667"/>
                    <a:pt x="2371474" y="1577607"/>
                  </a:cubicBezTo>
                  <a:cubicBezTo>
                    <a:pt x="2377824" y="1169937"/>
                    <a:pt x="2365352" y="1150887"/>
                    <a:pt x="2363268" y="799097"/>
                  </a:cubicBezTo>
                  <a:close/>
                </a:path>
              </a:pathLst>
            </a:custGeom>
            <a:blipFill>
              <a:blip r:embed="rId4"/>
              <a:stretch>
                <a:fillRect l="-10867" t="-12" r="-11094" b="-12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841532" y="1972322"/>
            <a:ext cx="8302468" cy="7626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# =============[ BFS ALGORITHM ]=================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DEF BFS(START, GOAL, BLOCKED):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"""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BREADTH-FIRST SEARCH: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- GUARANTEES THE SHORTEST PATH IN AN UNWEIGHTED GRID.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- EXPANDS NODES LAYER BY LAYER.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"""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Q = DEQUE([START])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VISITED = {START}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PARENT = {START: NONE}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EXPANDED = 0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WHILE Q: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CUR = Q.POPLEFT()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EXPANDED += 1 # CRITICAL METRIC FOR COMPARISON!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IF CUR == GOAL: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    # PATH RECONSTRUCTION: TRACING BACK USING THE PARENT DICTIONARY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    PATH = []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1169"/>
              </a:lnSpc>
              <a:spcBef>
                <a:spcPct val="0"/>
              </a:spcBef>
            </a:pPr>
            <a:r>
              <a:rPr lang="en-US" sz="835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RETURN NONE, EXPANDED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51333" y="827659"/>
            <a:ext cx="9185335" cy="754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3"/>
              </a:lnSpc>
            </a:pPr>
            <a:r>
              <a:rPr lang="en-US" sz="2799">
                <a:solidFill>
                  <a:srgbClr val="39FF14"/>
                </a:solidFill>
                <a:latin typeface="Pixellet TH"/>
                <a:ea typeface="Pixellet TH"/>
                <a:cs typeface="Pixellet TH"/>
                <a:sym typeface="Pixellet TH"/>
              </a:rPr>
              <a:t>BFS IMPLEMENTATION: SHORTEST PATH GUARANTEE VIA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334350" y="1899558"/>
            <a:ext cx="8556985" cy="7570104"/>
            <a:chOff x="0" y="0"/>
            <a:chExt cx="2378730" cy="2104390"/>
          </a:xfrm>
        </p:grpSpPr>
        <p:sp>
          <p:nvSpPr>
            <p:cNvPr id="10" name="Freeform 10"/>
            <p:cNvSpPr/>
            <p:nvPr/>
          </p:nvSpPr>
          <p:spPr>
            <a:xfrm>
              <a:off x="12336" y="-267"/>
              <a:ext cx="2381944" cy="2106424"/>
            </a:xfrm>
            <a:custGeom>
              <a:avLst/>
              <a:gdLst/>
              <a:ahLst/>
              <a:cxnLst/>
              <a:rect l="l" t="t" r="r" b="b"/>
              <a:pathLst>
                <a:path w="2381944" h="2106424">
                  <a:moveTo>
                    <a:pt x="2363268" y="799097"/>
                  </a:moveTo>
                  <a:cubicBezTo>
                    <a:pt x="2362226" y="623837"/>
                    <a:pt x="2353891" y="411747"/>
                    <a:pt x="2353891" y="221247"/>
                  </a:cubicBezTo>
                  <a:cubicBezTo>
                    <a:pt x="2353891" y="169177"/>
                    <a:pt x="2352849" y="65037"/>
                    <a:pt x="2347639" y="12967"/>
                  </a:cubicBezTo>
                  <a:cubicBezTo>
                    <a:pt x="2222608" y="12967"/>
                    <a:pt x="2088198" y="267"/>
                    <a:pt x="1962125" y="267"/>
                  </a:cubicBezTo>
                  <a:cubicBezTo>
                    <a:pt x="1306750" y="2807"/>
                    <a:pt x="657626" y="-1003"/>
                    <a:pt x="3293" y="267"/>
                  </a:cubicBezTo>
                  <a:cubicBezTo>
                    <a:pt x="3293" y="170447"/>
                    <a:pt x="-875" y="359677"/>
                    <a:pt x="167" y="529857"/>
                  </a:cubicBezTo>
                  <a:cubicBezTo>
                    <a:pt x="2251" y="847357"/>
                    <a:pt x="5377" y="1166127"/>
                    <a:pt x="5377" y="1483627"/>
                  </a:cubicBezTo>
                  <a:cubicBezTo>
                    <a:pt x="5377" y="1637297"/>
                    <a:pt x="4335" y="1789697"/>
                    <a:pt x="10586" y="1943367"/>
                  </a:cubicBezTo>
                  <a:cubicBezTo>
                    <a:pt x="12670" y="1992897"/>
                    <a:pt x="14754" y="2041157"/>
                    <a:pt x="18922" y="2090687"/>
                  </a:cubicBezTo>
                  <a:cubicBezTo>
                    <a:pt x="156457" y="2093227"/>
                    <a:pt x="292950" y="2097037"/>
                    <a:pt x="430485" y="2102117"/>
                  </a:cubicBezTo>
                  <a:cubicBezTo>
                    <a:pt x="796203" y="2114817"/>
                    <a:pt x="1151502" y="2094497"/>
                    <a:pt x="1528681" y="2103387"/>
                  </a:cubicBezTo>
                  <a:cubicBezTo>
                    <a:pt x="1813128" y="2109737"/>
                    <a:pt x="2092366" y="2090687"/>
                    <a:pt x="2379094" y="2090687"/>
                  </a:cubicBezTo>
                  <a:cubicBezTo>
                    <a:pt x="2379094" y="2074177"/>
                    <a:pt x="2380364" y="1977657"/>
                    <a:pt x="2381634" y="1961147"/>
                  </a:cubicBezTo>
                  <a:cubicBezTo>
                    <a:pt x="2384174" y="1862087"/>
                    <a:pt x="2370204" y="1676667"/>
                    <a:pt x="2371474" y="1577607"/>
                  </a:cubicBezTo>
                  <a:cubicBezTo>
                    <a:pt x="2377824" y="1169937"/>
                    <a:pt x="2365352" y="1150887"/>
                    <a:pt x="2363268" y="799097"/>
                  </a:cubicBezTo>
                  <a:close/>
                </a:path>
              </a:pathLst>
            </a:custGeom>
            <a:blipFill>
              <a:blip r:embed="rId4"/>
              <a:stretch>
                <a:fillRect l="-10533" t="-12" r="-11427" b="-12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9566784" y="2042374"/>
            <a:ext cx="8339766" cy="5233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endParaRPr/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    while cur: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        path.append(cur)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        cur = parent[cur]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    path.reverse()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    return path, expanded</a:t>
            </a: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for nb in get_neighbors(cur):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    if nb not in visited and nb not in blocked: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        visited.add(nb)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        parent[nb] = cur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        q.append(nb)</a:t>
            </a: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return None, expanded</a:t>
            </a:r>
          </a:p>
        </p:txBody>
      </p:sp>
      <p:sp>
        <p:nvSpPr>
          <p:cNvPr id="12" name="Freeform 2">
            <a:extLst>
              <a:ext uri="{FF2B5EF4-FFF2-40B4-BE49-F238E27FC236}">
                <a16:creationId xmlns:a16="http://schemas.microsoft.com/office/drawing/2014/main" id="{CB094FE3-AA2A-E608-B069-4722DF791ADA}"/>
              </a:ext>
            </a:extLst>
          </p:cNvPr>
          <p:cNvSpPr/>
          <p:nvPr/>
        </p:nvSpPr>
        <p:spPr>
          <a:xfrm rot="162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2847320" h="18288000">
                <a:moveTo>
                  <a:pt x="0" y="0"/>
                </a:moveTo>
                <a:lnTo>
                  <a:pt x="12847320" y="0"/>
                </a:lnTo>
                <a:lnTo>
                  <a:pt x="1284732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w="200025" cap="sq">
            <a:solidFill>
              <a:srgbClr val="39FF14"/>
            </a:solidFill>
            <a:prstDash val="solid"/>
            <a:miter/>
          </a:ln>
        </p:spPr>
      </p:sp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5279529" y="284159"/>
            <a:ext cx="3008471" cy="1783413"/>
          </a:xfrm>
          <a:custGeom>
            <a:avLst/>
            <a:gdLst/>
            <a:ahLst/>
            <a:cxnLst/>
            <a:rect l="l" t="t" r="r" b="b"/>
            <a:pathLst>
              <a:path w="3008471" h="1783413">
                <a:moveTo>
                  <a:pt x="0" y="0"/>
                </a:moveTo>
                <a:lnTo>
                  <a:pt x="3008471" y="0"/>
                </a:lnTo>
                <a:lnTo>
                  <a:pt x="3008471" y="1783413"/>
                </a:lnTo>
                <a:lnTo>
                  <a:pt x="0" y="17834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908" r="-353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25943" y="223632"/>
            <a:ext cx="2152650" cy="1904467"/>
          </a:xfrm>
          <a:custGeom>
            <a:avLst/>
            <a:gdLst/>
            <a:ahLst/>
            <a:cxnLst/>
            <a:rect l="l" t="t" r="r" b="b"/>
            <a:pathLst>
              <a:path w="2152650" h="1904467">
                <a:moveTo>
                  <a:pt x="0" y="0"/>
                </a:moveTo>
                <a:lnTo>
                  <a:pt x="2152650" y="0"/>
                </a:lnTo>
                <a:lnTo>
                  <a:pt x="2152650" y="1904467"/>
                </a:lnTo>
                <a:lnTo>
                  <a:pt x="0" y="1904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3531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587015" y="1899558"/>
            <a:ext cx="8556985" cy="7570104"/>
            <a:chOff x="0" y="0"/>
            <a:chExt cx="2378730" cy="2104390"/>
          </a:xfrm>
        </p:grpSpPr>
        <p:sp>
          <p:nvSpPr>
            <p:cNvPr id="6" name="Freeform 6"/>
            <p:cNvSpPr/>
            <p:nvPr/>
          </p:nvSpPr>
          <p:spPr>
            <a:xfrm>
              <a:off x="12336" y="-267"/>
              <a:ext cx="2381944" cy="2106424"/>
            </a:xfrm>
            <a:custGeom>
              <a:avLst/>
              <a:gdLst/>
              <a:ahLst/>
              <a:cxnLst/>
              <a:rect l="l" t="t" r="r" b="b"/>
              <a:pathLst>
                <a:path w="2381944" h="2106424">
                  <a:moveTo>
                    <a:pt x="2363268" y="799097"/>
                  </a:moveTo>
                  <a:cubicBezTo>
                    <a:pt x="2362226" y="623837"/>
                    <a:pt x="2353891" y="411747"/>
                    <a:pt x="2353891" y="221247"/>
                  </a:cubicBezTo>
                  <a:cubicBezTo>
                    <a:pt x="2353891" y="169177"/>
                    <a:pt x="2352849" y="65037"/>
                    <a:pt x="2347639" y="12967"/>
                  </a:cubicBezTo>
                  <a:cubicBezTo>
                    <a:pt x="2222608" y="12967"/>
                    <a:pt x="2088198" y="267"/>
                    <a:pt x="1962125" y="267"/>
                  </a:cubicBezTo>
                  <a:cubicBezTo>
                    <a:pt x="1306750" y="2807"/>
                    <a:pt x="657626" y="-1003"/>
                    <a:pt x="3293" y="267"/>
                  </a:cubicBezTo>
                  <a:cubicBezTo>
                    <a:pt x="3293" y="170447"/>
                    <a:pt x="-875" y="359677"/>
                    <a:pt x="167" y="529857"/>
                  </a:cubicBezTo>
                  <a:cubicBezTo>
                    <a:pt x="2251" y="847357"/>
                    <a:pt x="5377" y="1166127"/>
                    <a:pt x="5377" y="1483627"/>
                  </a:cubicBezTo>
                  <a:cubicBezTo>
                    <a:pt x="5377" y="1637297"/>
                    <a:pt x="4335" y="1789697"/>
                    <a:pt x="10586" y="1943367"/>
                  </a:cubicBezTo>
                  <a:cubicBezTo>
                    <a:pt x="12670" y="1992897"/>
                    <a:pt x="14754" y="2041157"/>
                    <a:pt x="18922" y="2090687"/>
                  </a:cubicBezTo>
                  <a:cubicBezTo>
                    <a:pt x="156457" y="2093227"/>
                    <a:pt x="292950" y="2097037"/>
                    <a:pt x="430485" y="2102117"/>
                  </a:cubicBezTo>
                  <a:cubicBezTo>
                    <a:pt x="796203" y="2114817"/>
                    <a:pt x="1151502" y="2094497"/>
                    <a:pt x="1528681" y="2103387"/>
                  </a:cubicBezTo>
                  <a:cubicBezTo>
                    <a:pt x="1813128" y="2109737"/>
                    <a:pt x="2092366" y="2090687"/>
                    <a:pt x="2379094" y="2090687"/>
                  </a:cubicBezTo>
                  <a:cubicBezTo>
                    <a:pt x="2379094" y="2074177"/>
                    <a:pt x="2380364" y="1977657"/>
                    <a:pt x="2381634" y="1961147"/>
                  </a:cubicBezTo>
                  <a:cubicBezTo>
                    <a:pt x="2384174" y="1862087"/>
                    <a:pt x="2370204" y="1676667"/>
                    <a:pt x="2371474" y="1577607"/>
                  </a:cubicBezTo>
                  <a:cubicBezTo>
                    <a:pt x="2377824" y="1169937"/>
                    <a:pt x="2365352" y="1150887"/>
                    <a:pt x="2363268" y="799097"/>
                  </a:cubicBezTo>
                  <a:close/>
                </a:path>
              </a:pathLst>
            </a:custGeom>
            <a:blipFill>
              <a:blip r:embed="rId4"/>
              <a:stretch>
                <a:fillRect l="-10867" t="-12" r="-11094" b="-12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841532" y="1972322"/>
            <a:ext cx="8302468" cy="8686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# =============[ A* ALGORITHM ]=================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DEF HEURISTIC(A, B):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"""MANHATTAN DISTANCE HEURISTIC SUITABLE FOR GRID PATHFINDING."""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RETURN ABS(A[0] - B[0]) + ABS(A[1] - B[1])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DEF ASTAR(START, GOAL, BLOCKED):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"""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A* SEARCH: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- USES F = G + H (COST + HEURISTIC)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- USUALLY EXPANDS FEWER NODES THAN BFS.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"""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PQ = []  # PRIORITY QUEUE: (F, G, NODE)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HEAPQ.HEAPPUSH(PQ, (0, 0, START))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G = {START: 0} # TRACKS ACTUAL COST FROM START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PARENT = {START: NONE}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EXPANDED = 0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WHILE PQ: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F, COST, CUR = HEAPQ.HEAPPOP(PQ)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EXPANDED += 1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</a:t>
            </a:r>
          </a:p>
          <a:p>
            <a:pPr algn="l">
              <a:lnSpc>
                <a:spcPts val="1169"/>
              </a:lnSpc>
              <a:spcBef>
                <a:spcPct val="0"/>
              </a:spcBef>
            </a:pPr>
            <a:r>
              <a:rPr lang="en-US" sz="835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RETURN NONE, EXPANDED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51333" y="827659"/>
            <a:ext cx="9185335" cy="754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3"/>
              </a:lnSpc>
            </a:pPr>
            <a:r>
              <a:rPr lang="en-US" sz="2799">
                <a:solidFill>
                  <a:srgbClr val="39FF14"/>
                </a:solidFill>
                <a:latin typeface="Pixellet TH"/>
                <a:ea typeface="Pixellet TH"/>
                <a:cs typeface="Pixellet TH"/>
                <a:sym typeface="Pixellet TH"/>
              </a:rPr>
              <a:t>A*: EFFICIENCY THROUGH HEURISTIC AND PRIORITY QUEUE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334350" y="1899558"/>
            <a:ext cx="8556985" cy="7570104"/>
            <a:chOff x="0" y="0"/>
            <a:chExt cx="2378730" cy="2104390"/>
          </a:xfrm>
        </p:grpSpPr>
        <p:sp>
          <p:nvSpPr>
            <p:cNvPr id="10" name="Freeform 10"/>
            <p:cNvSpPr/>
            <p:nvPr/>
          </p:nvSpPr>
          <p:spPr>
            <a:xfrm>
              <a:off x="12336" y="-267"/>
              <a:ext cx="2381944" cy="2106424"/>
            </a:xfrm>
            <a:custGeom>
              <a:avLst/>
              <a:gdLst/>
              <a:ahLst/>
              <a:cxnLst/>
              <a:rect l="l" t="t" r="r" b="b"/>
              <a:pathLst>
                <a:path w="2381944" h="2106424">
                  <a:moveTo>
                    <a:pt x="2363268" y="799097"/>
                  </a:moveTo>
                  <a:cubicBezTo>
                    <a:pt x="2362226" y="623837"/>
                    <a:pt x="2353891" y="411747"/>
                    <a:pt x="2353891" y="221247"/>
                  </a:cubicBezTo>
                  <a:cubicBezTo>
                    <a:pt x="2353891" y="169177"/>
                    <a:pt x="2352849" y="65037"/>
                    <a:pt x="2347639" y="12967"/>
                  </a:cubicBezTo>
                  <a:cubicBezTo>
                    <a:pt x="2222608" y="12967"/>
                    <a:pt x="2088198" y="267"/>
                    <a:pt x="1962125" y="267"/>
                  </a:cubicBezTo>
                  <a:cubicBezTo>
                    <a:pt x="1306750" y="2807"/>
                    <a:pt x="657626" y="-1003"/>
                    <a:pt x="3293" y="267"/>
                  </a:cubicBezTo>
                  <a:cubicBezTo>
                    <a:pt x="3293" y="170447"/>
                    <a:pt x="-875" y="359677"/>
                    <a:pt x="167" y="529857"/>
                  </a:cubicBezTo>
                  <a:cubicBezTo>
                    <a:pt x="2251" y="847357"/>
                    <a:pt x="5377" y="1166127"/>
                    <a:pt x="5377" y="1483627"/>
                  </a:cubicBezTo>
                  <a:cubicBezTo>
                    <a:pt x="5377" y="1637297"/>
                    <a:pt x="4335" y="1789697"/>
                    <a:pt x="10586" y="1943367"/>
                  </a:cubicBezTo>
                  <a:cubicBezTo>
                    <a:pt x="12670" y="1992897"/>
                    <a:pt x="14754" y="2041157"/>
                    <a:pt x="18922" y="2090687"/>
                  </a:cubicBezTo>
                  <a:cubicBezTo>
                    <a:pt x="156457" y="2093227"/>
                    <a:pt x="292950" y="2097037"/>
                    <a:pt x="430485" y="2102117"/>
                  </a:cubicBezTo>
                  <a:cubicBezTo>
                    <a:pt x="796203" y="2114817"/>
                    <a:pt x="1151502" y="2094497"/>
                    <a:pt x="1528681" y="2103387"/>
                  </a:cubicBezTo>
                  <a:cubicBezTo>
                    <a:pt x="1813128" y="2109737"/>
                    <a:pt x="2092366" y="2090687"/>
                    <a:pt x="2379094" y="2090687"/>
                  </a:cubicBezTo>
                  <a:cubicBezTo>
                    <a:pt x="2379094" y="2074177"/>
                    <a:pt x="2380364" y="1977657"/>
                    <a:pt x="2381634" y="1961147"/>
                  </a:cubicBezTo>
                  <a:cubicBezTo>
                    <a:pt x="2384174" y="1862087"/>
                    <a:pt x="2370204" y="1676667"/>
                    <a:pt x="2371474" y="1577607"/>
                  </a:cubicBezTo>
                  <a:cubicBezTo>
                    <a:pt x="2377824" y="1169937"/>
                    <a:pt x="2365352" y="1150887"/>
                    <a:pt x="2363268" y="799097"/>
                  </a:cubicBezTo>
                  <a:close/>
                </a:path>
              </a:pathLst>
            </a:custGeom>
            <a:blipFill>
              <a:blip r:embed="rId4"/>
              <a:stretch>
                <a:fillRect l="-10533" t="-12" r="-11427" b="-12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9566784" y="2042374"/>
            <a:ext cx="8339766" cy="783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if cur == goal: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    # Path Reconstruction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    # ... (Same reconstruction logic as BFS)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    path = []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    while cur: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        path.append(cur)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        cur = parent[cur]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    path.reverse()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    return path, expanded</a:t>
            </a: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for nb in get_neighbors(cur):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    if nb in blocked: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        continue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    new_g = cost + 1 # Cost is uniform (1)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    if nb not in g or new_g &lt; g[nb]: # Relaxation condition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        g[nb] = new_g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        parent[nb] = cur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        h = heuristic(nb, goal)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        heapq.heappush(pq, (new_g + h, new_g, nb))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        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return None, expanded</a:t>
            </a:r>
          </a:p>
        </p:txBody>
      </p:sp>
      <p:sp>
        <p:nvSpPr>
          <p:cNvPr id="12" name="Freeform 2">
            <a:extLst>
              <a:ext uri="{FF2B5EF4-FFF2-40B4-BE49-F238E27FC236}">
                <a16:creationId xmlns:a16="http://schemas.microsoft.com/office/drawing/2014/main" id="{5E81E358-A5EE-0A79-15E6-03518C6516B8}"/>
              </a:ext>
            </a:extLst>
          </p:cNvPr>
          <p:cNvSpPr/>
          <p:nvPr/>
        </p:nvSpPr>
        <p:spPr>
          <a:xfrm rot="162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2847320" h="18288000">
                <a:moveTo>
                  <a:pt x="0" y="0"/>
                </a:moveTo>
                <a:lnTo>
                  <a:pt x="12847320" y="0"/>
                </a:lnTo>
                <a:lnTo>
                  <a:pt x="1284732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w="200025" cap="sq">
            <a:solidFill>
              <a:srgbClr val="39FF14"/>
            </a:solidFill>
            <a:prstDash val="solid"/>
            <a:miter/>
          </a:ln>
        </p:spPr>
      </p: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5279529" y="284159"/>
            <a:ext cx="3008471" cy="1783413"/>
          </a:xfrm>
          <a:custGeom>
            <a:avLst/>
            <a:gdLst/>
            <a:ahLst/>
            <a:cxnLst/>
            <a:rect l="l" t="t" r="r" b="b"/>
            <a:pathLst>
              <a:path w="3008471" h="1783413">
                <a:moveTo>
                  <a:pt x="0" y="0"/>
                </a:moveTo>
                <a:lnTo>
                  <a:pt x="3008471" y="0"/>
                </a:lnTo>
                <a:lnTo>
                  <a:pt x="3008471" y="1783413"/>
                </a:lnTo>
                <a:lnTo>
                  <a:pt x="0" y="17834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908" r="-353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25943" y="223632"/>
            <a:ext cx="2152650" cy="1904467"/>
          </a:xfrm>
          <a:custGeom>
            <a:avLst/>
            <a:gdLst/>
            <a:ahLst/>
            <a:cxnLst/>
            <a:rect l="l" t="t" r="r" b="b"/>
            <a:pathLst>
              <a:path w="2152650" h="1904467">
                <a:moveTo>
                  <a:pt x="0" y="0"/>
                </a:moveTo>
                <a:lnTo>
                  <a:pt x="2152650" y="0"/>
                </a:lnTo>
                <a:lnTo>
                  <a:pt x="2152650" y="1904467"/>
                </a:lnTo>
                <a:lnTo>
                  <a:pt x="0" y="1904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3531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587015" y="1899558"/>
            <a:ext cx="8556985" cy="7570104"/>
            <a:chOff x="0" y="0"/>
            <a:chExt cx="2378730" cy="2104390"/>
          </a:xfrm>
        </p:grpSpPr>
        <p:sp>
          <p:nvSpPr>
            <p:cNvPr id="6" name="Freeform 6"/>
            <p:cNvSpPr/>
            <p:nvPr/>
          </p:nvSpPr>
          <p:spPr>
            <a:xfrm>
              <a:off x="12336" y="-267"/>
              <a:ext cx="2381944" cy="2106424"/>
            </a:xfrm>
            <a:custGeom>
              <a:avLst/>
              <a:gdLst/>
              <a:ahLst/>
              <a:cxnLst/>
              <a:rect l="l" t="t" r="r" b="b"/>
              <a:pathLst>
                <a:path w="2381944" h="2106424">
                  <a:moveTo>
                    <a:pt x="2363268" y="799097"/>
                  </a:moveTo>
                  <a:cubicBezTo>
                    <a:pt x="2362226" y="623837"/>
                    <a:pt x="2353891" y="411747"/>
                    <a:pt x="2353891" y="221247"/>
                  </a:cubicBezTo>
                  <a:cubicBezTo>
                    <a:pt x="2353891" y="169177"/>
                    <a:pt x="2352849" y="65037"/>
                    <a:pt x="2347639" y="12967"/>
                  </a:cubicBezTo>
                  <a:cubicBezTo>
                    <a:pt x="2222608" y="12967"/>
                    <a:pt x="2088198" y="267"/>
                    <a:pt x="1962125" y="267"/>
                  </a:cubicBezTo>
                  <a:cubicBezTo>
                    <a:pt x="1306750" y="2807"/>
                    <a:pt x="657626" y="-1003"/>
                    <a:pt x="3293" y="267"/>
                  </a:cubicBezTo>
                  <a:cubicBezTo>
                    <a:pt x="3293" y="170447"/>
                    <a:pt x="-875" y="359677"/>
                    <a:pt x="167" y="529857"/>
                  </a:cubicBezTo>
                  <a:cubicBezTo>
                    <a:pt x="2251" y="847357"/>
                    <a:pt x="5377" y="1166127"/>
                    <a:pt x="5377" y="1483627"/>
                  </a:cubicBezTo>
                  <a:cubicBezTo>
                    <a:pt x="5377" y="1637297"/>
                    <a:pt x="4335" y="1789697"/>
                    <a:pt x="10586" y="1943367"/>
                  </a:cubicBezTo>
                  <a:cubicBezTo>
                    <a:pt x="12670" y="1992897"/>
                    <a:pt x="14754" y="2041157"/>
                    <a:pt x="18922" y="2090687"/>
                  </a:cubicBezTo>
                  <a:cubicBezTo>
                    <a:pt x="156457" y="2093227"/>
                    <a:pt x="292950" y="2097037"/>
                    <a:pt x="430485" y="2102117"/>
                  </a:cubicBezTo>
                  <a:cubicBezTo>
                    <a:pt x="796203" y="2114817"/>
                    <a:pt x="1151502" y="2094497"/>
                    <a:pt x="1528681" y="2103387"/>
                  </a:cubicBezTo>
                  <a:cubicBezTo>
                    <a:pt x="1813128" y="2109737"/>
                    <a:pt x="2092366" y="2090687"/>
                    <a:pt x="2379094" y="2090687"/>
                  </a:cubicBezTo>
                  <a:cubicBezTo>
                    <a:pt x="2379094" y="2074177"/>
                    <a:pt x="2380364" y="1977657"/>
                    <a:pt x="2381634" y="1961147"/>
                  </a:cubicBezTo>
                  <a:cubicBezTo>
                    <a:pt x="2384174" y="1862087"/>
                    <a:pt x="2370204" y="1676667"/>
                    <a:pt x="2371474" y="1577607"/>
                  </a:cubicBezTo>
                  <a:cubicBezTo>
                    <a:pt x="2377824" y="1169937"/>
                    <a:pt x="2365352" y="1150887"/>
                    <a:pt x="2363268" y="799097"/>
                  </a:cubicBezTo>
                  <a:close/>
                </a:path>
              </a:pathLst>
            </a:custGeom>
            <a:blipFill>
              <a:blip r:embed="rId4"/>
              <a:stretch>
                <a:fillRect l="-10867" t="-12" r="-11094" b="-12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791676" y="1963182"/>
            <a:ext cx="7841732" cy="7709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4"/>
              </a:lnSpc>
            </a:pPr>
            <a:r>
              <a:rPr lang="en-US" sz="188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# =============[ SNAKE BOARD CLASS ]=================</a:t>
            </a:r>
          </a:p>
          <a:p>
            <a:pPr algn="l">
              <a:lnSpc>
                <a:spcPts val="2644"/>
              </a:lnSpc>
            </a:pPr>
            <a:r>
              <a:rPr lang="en-US" sz="188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CLASS SNAKEBOARD:</a:t>
            </a:r>
          </a:p>
          <a:p>
            <a:pPr algn="l">
              <a:lnSpc>
                <a:spcPts val="2644"/>
              </a:lnSpc>
            </a:pPr>
            <a:r>
              <a:rPr lang="en-US" sz="188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"""</a:t>
            </a:r>
          </a:p>
          <a:p>
            <a:pPr algn="l">
              <a:lnSpc>
                <a:spcPts val="2644"/>
              </a:lnSpc>
            </a:pPr>
            <a:r>
              <a:rPr lang="en-US" sz="188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HANDLES:</a:t>
            </a:r>
          </a:p>
          <a:p>
            <a:pPr algn="l">
              <a:lnSpc>
                <a:spcPts val="2644"/>
              </a:lnSpc>
            </a:pPr>
            <a:r>
              <a:rPr lang="en-US" sz="188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- SNAKE MOVEMENT</a:t>
            </a:r>
          </a:p>
          <a:p>
            <a:pPr algn="l">
              <a:lnSpc>
                <a:spcPts val="2644"/>
              </a:lnSpc>
            </a:pPr>
            <a:r>
              <a:rPr lang="en-US" sz="188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- FOOD SPAWNING</a:t>
            </a:r>
          </a:p>
          <a:p>
            <a:pPr algn="l">
              <a:lnSpc>
                <a:spcPts val="2644"/>
              </a:lnSpc>
            </a:pPr>
            <a:r>
              <a:rPr lang="en-US" sz="188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- PATHFINDING CALLS</a:t>
            </a:r>
          </a:p>
          <a:p>
            <a:pPr algn="l">
              <a:lnSpc>
                <a:spcPts val="2644"/>
              </a:lnSpc>
            </a:pPr>
            <a:r>
              <a:rPr lang="en-US" sz="188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- RENDERING OF THE BOARD</a:t>
            </a:r>
          </a:p>
          <a:p>
            <a:pPr algn="l">
              <a:lnSpc>
                <a:spcPts val="2644"/>
              </a:lnSpc>
            </a:pPr>
            <a:r>
              <a:rPr lang="en-US" sz="188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"""</a:t>
            </a:r>
          </a:p>
          <a:p>
            <a:pPr algn="l">
              <a:lnSpc>
                <a:spcPts val="2644"/>
              </a:lnSpc>
            </a:pPr>
            <a:r>
              <a:rPr lang="en-US" sz="188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DEF INIT(SELF, ALGO, OFFSET_X):</a:t>
            </a:r>
          </a:p>
          <a:p>
            <a:pPr algn="l">
              <a:lnSpc>
                <a:spcPts val="2644"/>
              </a:lnSpc>
            </a:pPr>
            <a:r>
              <a:rPr lang="en-US" sz="188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SELF.ALGO = ALGO     # "BFS" OR "ASTAR"</a:t>
            </a:r>
          </a:p>
          <a:p>
            <a:pPr algn="l">
              <a:lnSpc>
                <a:spcPts val="2644"/>
              </a:lnSpc>
            </a:pPr>
            <a:r>
              <a:rPr lang="en-US" sz="188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SELF.OFFSET_X = OFFSET_X # POSITION OF THIS BOARD ON THE WINDOW</a:t>
            </a:r>
          </a:p>
          <a:p>
            <a:pPr algn="l">
              <a:lnSpc>
                <a:spcPts val="2644"/>
              </a:lnSpc>
            </a:pPr>
            <a:r>
              <a:rPr lang="en-US" sz="188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SELF.RESET()</a:t>
            </a:r>
          </a:p>
          <a:p>
            <a:pPr algn="l">
              <a:lnSpc>
                <a:spcPts val="2644"/>
              </a:lnSpc>
            </a:pPr>
            <a:endParaRPr lang="en-US" sz="1889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2644"/>
              </a:lnSpc>
            </a:pPr>
            <a:r>
              <a:rPr lang="en-US" sz="188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DEF RESET(SELF):</a:t>
            </a:r>
          </a:p>
          <a:p>
            <a:pPr algn="l">
              <a:lnSpc>
                <a:spcPts val="2644"/>
              </a:lnSpc>
            </a:pPr>
            <a:r>
              <a:rPr lang="en-US" sz="188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SELF.SNAKE = [(GRID_W // 2, GRID_H // 2)]</a:t>
            </a:r>
          </a:p>
          <a:p>
            <a:pPr algn="l">
              <a:lnSpc>
                <a:spcPts val="2644"/>
              </a:lnSpc>
            </a:pPr>
            <a:r>
              <a:rPr lang="en-US" sz="188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SELF.DIRECTION = (1, 0)</a:t>
            </a:r>
          </a:p>
          <a:p>
            <a:pPr algn="l">
              <a:lnSpc>
                <a:spcPts val="2644"/>
              </a:lnSpc>
            </a:pPr>
            <a:r>
              <a:rPr lang="en-US" sz="188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SELF.ALIVE = TRUE</a:t>
            </a:r>
          </a:p>
          <a:p>
            <a:pPr algn="l">
              <a:lnSpc>
                <a:spcPts val="2644"/>
              </a:lnSpc>
            </a:pPr>
            <a:r>
              <a:rPr lang="en-US" sz="188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SELF.FOODS = 0</a:t>
            </a:r>
          </a:p>
          <a:p>
            <a:pPr algn="l">
              <a:lnSpc>
                <a:spcPts val="2644"/>
              </a:lnSpc>
            </a:pPr>
            <a:r>
              <a:rPr lang="en-US" sz="188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SELF.NODES_EXPANDED = 0</a:t>
            </a:r>
          </a:p>
          <a:p>
            <a:pPr algn="l">
              <a:lnSpc>
                <a:spcPts val="2644"/>
              </a:lnSpc>
              <a:spcBef>
                <a:spcPct val="0"/>
              </a:spcBef>
            </a:pPr>
            <a:r>
              <a:rPr lang="en-US" sz="188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SELF.SPAWN_FOOD()</a:t>
            </a:r>
          </a:p>
          <a:p>
            <a:pPr algn="l">
              <a:lnSpc>
                <a:spcPts val="2644"/>
              </a:lnSpc>
              <a:spcBef>
                <a:spcPct val="0"/>
              </a:spcBef>
            </a:pPr>
            <a:endParaRPr lang="en-US" sz="1889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551333" y="827659"/>
            <a:ext cx="9185335" cy="754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3"/>
              </a:lnSpc>
            </a:pPr>
            <a:r>
              <a:rPr lang="en-US" sz="2799">
                <a:solidFill>
                  <a:srgbClr val="39FF14"/>
                </a:solidFill>
                <a:latin typeface="Pixellet TH"/>
                <a:ea typeface="Pixellet TH"/>
                <a:cs typeface="Pixellet TH"/>
                <a:sym typeface="Pixellet TH"/>
              </a:rPr>
              <a:t>THE SNAKEBOARD CLASS: AI INTEGRATION VIA CHOOSE_MOVE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334350" y="1899558"/>
            <a:ext cx="8556985" cy="7570104"/>
            <a:chOff x="0" y="0"/>
            <a:chExt cx="2378730" cy="2104390"/>
          </a:xfrm>
        </p:grpSpPr>
        <p:sp>
          <p:nvSpPr>
            <p:cNvPr id="10" name="Freeform 10"/>
            <p:cNvSpPr/>
            <p:nvPr/>
          </p:nvSpPr>
          <p:spPr>
            <a:xfrm>
              <a:off x="12336" y="-267"/>
              <a:ext cx="2381944" cy="2106424"/>
            </a:xfrm>
            <a:custGeom>
              <a:avLst/>
              <a:gdLst/>
              <a:ahLst/>
              <a:cxnLst/>
              <a:rect l="l" t="t" r="r" b="b"/>
              <a:pathLst>
                <a:path w="2381944" h="2106424">
                  <a:moveTo>
                    <a:pt x="2363268" y="799097"/>
                  </a:moveTo>
                  <a:cubicBezTo>
                    <a:pt x="2362226" y="623837"/>
                    <a:pt x="2353891" y="411747"/>
                    <a:pt x="2353891" y="221247"/>
                  </a:cubicBezTo>
                  <a:cubicBezTo>
                    <a:pt x="2353891" y="169177"/>
                    <a:pt x="2352849" y="65037"/>
                    <a:pt x="2347639" y="12967"/>
                  </a:cubicBezTo>
                  <a:cubicBezTo>
                    <a:pt x="2222608" y="12967"/>
                    <a:pt x="2088198" y="267"/>
                    <a:pt x="1962125" y="267"/>
                  </a:cubicBezTo>
                  <a:cubicBezTo>
                    <a:pt x="1306750" y="2807"/>
                    <a:pt x="657626" y="-1003"/>
                    <a:pt x="3293" y="267"/>
                  </a:cubicBezTo>
                  <a:cubicBezTo>
                    <a:pt x="3293" y="170447"/>
                    <a:pt x="-875" y="359677"/>
                    <a:pt x="167" y="529857"/>
                  </a:cubicBezTo>
                  <a:cubicBezTo>
                    <a:pt x="2251" y="847357"/>
                    <a:pt x="5377" y="1166127"/>
                    <a:pt x="5377" y="1483627"/>
                  </a:cubicBezTo>
                  <a:cubicBezTo>
                    <a:pt x="5377" y="1637297"/>
                    <a:pt x="4335" y="1789697"/>
                    <a:pt x="10586" y="1943367"/>
                  </a:cubicBezTo>
                  <a:cubicBezTo>
                    <a:pt x="12670" y="1992897"/>
                    <a:pt x="14754" y="2041157"/>
                    <a:pt x="18922" y="2090687"/>
                  </a:cubicBezTo>
                  <a:cubicBezTo>
                    <a:pt x="156457" y="2093227"/>
                    <a:pt x="292950" y="2097037"/>
                    <a:pt x="430485" y="2102117"/>
                  </a:cubicBezTo>
                  <a:cubicBezTo>
                    <a:pt x="796203" y="2114817"/>
                    <a:pt x="1151502" y="2094497"/>
                    <a:pt x="1528681" y="2103387"/>
                  </a:cubicBezTo>
                  <a:cubicBezTo>
                    <a:pt x="1813128" y="2109737"/>
                    <a:pt x="2092366" y="2090687"/>
                    <a:pt x="2379094" y="2090687"/>
                  </a:cubicBezTo>
                  <a:cubicBezTo>
                    <a:pt x="2379094" y="2074177"/>
                    <a:pt x="2380364" y="1977657"/>
                    <a:pt x="2381634" y="1961147"/>
                  </a:cubicBezTo>
                  <a:cubicBezTo>
                    <a:pt x="2384174" y="1862087"/>
                    <a:pt x="2370204" y="1676667"/>
                    <a:pt x="2371474" y="1577607"/>
                  </a:cubicBezTo>
                  <a:cubicBezTo>
                    <a:pt x="2377824" y="1169937"/>
                    <a:pt x="2365352" y="1150887"/>
                    <a:pt x="2363268" y="799097"/>
                  </a:cubicBezTo>
                  <a:close/>
                </a:path>
              </a:pathLst>
            </a:custGeom>
            <a:blipFill>
              <a:blip r:embed="rId4"/>
              <a:stretch>
                <a:fillRect l="-10533" t="-12" r="-11427" b="-12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9496724" y="1972707"/>
            <a:ext cx="5782805" cy="7496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05"/>
              </a:lnSpc>
            </a:pPr>
            <a:r>
              <a:rPr lang="en-US" sz="136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def choose_move(self):</a:t>
            </a:r>
          </a:p>
          <a:p>
            <a:pPr algn="l">
              <a:lnSpc>
                <a:spcPts val="1905"/>
              </a:lnSpc>
            </a:pPr>
            <a:r>
              <a:rPr lang="en-US" sz="136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"""Use BFS or A* to select the snake’s next move."""</a:t>
            </a:r>
          </a:p>
          <a:p>
            <a:pPr algn="l">
              <a:lnSpc>
                <a:spcPts val="1905"/>
              </a:lnSpc>
            </a:pPr>
            <a:r>
              <a:rPr lang="en-US" sz="136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head = self.snake[0]</a:t>
            </a:r>
          </a:p>
          <a:p>
            <a:pPr algn="l">
              <a:lnSpc>
                <a:spcPts val="1905"/>
              </a:lnSpc>
            </a:pPr>
            <a:r>
              <a:rPr lang="en-US" sz="136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blocked = set(self.snake[1:]) # Snake body is treated as obstacles</a:t>
            </a:r>
          </a:p>
          <a:p>
            <a:pPr algn="l">
              <a:lnSpc>
                <a:spcPts val="1905"/>
              </a:lnSpc>
            </a:pPr>
            <a:endParaRPr lang="en-US" sz="1361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1905"/>
              </a:lnSpc>
            </a:pPr>
            <a:r>
              <a:rPr lang="en-US" sz="136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# Call the selected pathfinding algorithm</a:t>
            </a:r>
          </a:p>
          <a:p>
            <a:pPr algn="l">
              <a:lnSpc>
                <a:spcPts val="1905"/>
              </a:lnSpc>
            </a:pPr>
            <a:r>
              <a:rPr lang="en-US" sz="136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if self.algo == "BFS":</a:t>
            </a:r>
          </a:p>
          <a:p>
            <a:pPr algn="l">
              <a:lnSpc>
                <a:spcPts val="1905"/>
              </a:lnSpc>
            </a:pPr>
            <a:r>
              <a:rPr lang="en-US" sz="136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path, expanded = bfs(head, self.food, blocked)</a:t>
            </a:r>
          </a:p>
          <a:p>
            <a:pPr algn="l">
              <a:lnSpc>
                <a:spcPts val="1905"/>
              </a:lnSpc>
            </a:pPr>
            <a:r>
              <a:rPr lang="en-US" sz="136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else:</a:t>
            </a:r>
          </a:p>
          <a:p>
            <a:pPr algn="l">
              <a:lnSpc>
                <a:spcPts val="1905"/>
              </a:lnSpc>
            </a:pPr>
            <a:r>
              <a:rPr lang="en-US" sz="136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path, expanded = astar(head, self.food, blocked)</a:t>
            </a:r>
          </a:p>
          <a:p>
            <a:pPr algn="l">
              <a:lnSpc>
                <a:spcPts val="1905"/>
              </a:lnSpc>
            </a:pPr>
            <a:endParaRPr lang="en-US" sz="1361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1905"/>
              </a:lnSpc>
            </a:pPr>
            <a:r>
              <a:rPr lang="en-US" sz="136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self.nodes_expanded += expanded</a:t>
            </a:r>
          </a:p>
          <a:p>
            <a:pPr algn="l">
              <a:lnSpc>
                <a:spcPts val="1905"/>
              </a:lnSpc>
            </a:pPr>
            <a:endParaRPr lang="en-US" sz="1361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1905"/>
              </a:lnSpc>
            </a:pPr>
            <a:r>
              <a:rPr lang="en-US" sz="136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# If a valid path exists, follow the next step</a:t>
            </a:r>
          </a:p>
          <a:p>
            <a:pPr algn="l">
              <a:lnSpc>
                <a:spcPts val="1905"/>
              </a:lnSpc>
            </a:pPr>
            <a:r>
              <a:rPr lang="en-US" sz="136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if path and len(path) &gt; 1:</a:t>
            </a:r>
          </a:p>
          <a:p>
            <a:pPr algn="l">
              <a:lnSpc>
                <a:spcPts val="1905"/>
              </a:lnSpc>
            </a:pPr>
            <a:r>
              <a:rPr lang="en-US" sz="136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next_cell = path[1]</a:t>
            </a:r>
          </a:p>
          <a:p>
            <a:pPr algn="l">
              <a:lnSpc>
                <a:spcPts val="1905"/>
              </a:lnSpc>
            </a:pPr>
            <a:r>
              <a:rPr lang="en-US" sz="136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dx = next_cell[0] - head[0]</a:t>
            </a:r>
          </a:p>
          <a:p>
            <a:pPr algn="l">
              <a:lnSpc>
                <a:spcPts val="1905"/>
              </a:lnSpc>
            </a:pPr>
            <a:r>
              <a:rPr lang="en-US" sz="136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dy = next_cell[1] - head[1]</a:t>
            </a:r>
          </a:p>
          <a:p>
            <a:pPr algn="l">
              <a:lnSpc>
                <a:spcPts val="1905"/>
              </a:lnSpc>
            </a:pPr>
            <a:r>
              <a:rPr lang="en-US" sz="136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return dx, dy</a:t>
            </a:r>
          </a:p>
          <a:p>
            <a:pPr algn="l">
              <a:lnSpc>
                <a:spcPts val="1905"/>
              </a:lnSpc>
            </a:pPr>
            <a:endParaRPr lang="en-US" sz="1361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1905"/>
              </a:lnSpc>
            </a:pPr>
            <a:r>
              <a:rPr lang="en-US" sz="136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# No path → try any safe move</a:t>
            </a:r>
          </a:p>
          <a:p>
            <a:pPr algn="l">
              <a:lnSpc>
                <a:spcPts val="1905"/>
              </a:lnSpc>
            </a:pPr>
            <a:r>
              <a:rPr lang="en-US" sz="136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for DX, dy in [(1, 0), (-1, 0), (0, 1), (0, -1)]:</a:t>
            </a:r>
          </a:p>
          <a:p>
            <a:pPr algn="l">
              <a:lnSpc>
                <a:spcPts val="1905"/>
              </a:lnSpc>
            </a:pPr>
            <a:r>
              <a:rPr lang="en-US" sz="136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nx, ny = head[0] + dx, head[1] + dy</a:t>
            </a:r>
          </a:p>
          <a:p>
            <a:pPr algn="l">
              <a:lnSpc>
                <a:spcPts val="1905"/>
              </a:lnSpc>
            </a:pPr>
            <a:r>
              <a:rPr lang="en-US" sz="136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if (0 &lt;= nx &lt; GRID_W and 0 &lt;= ny &lt; GRID_H and (nx, ny) not in blocked):</a:t>
            </a:r>
          </a:p>
          <a:p>
            <a:pPr algn="l">
              <a:lnSpc>
                <a:spcPts val="1905"/>
              </a:lnSpc>
            </a:pPr>
            <a:r>
              <a:rPr lang="en-US" sz="136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return dx, dy</a:t>
            </a:r>
          </a:p>
          <a:p>
            <a:pPr algn="l">
              <a:lnSpc>
                <a:spcPts val="1905"/>
              </a:lnSpc>
            </a:pPr>
            <a:endParaRPr lang="en-US" sz="1361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1905"/>
              </a:lnSpc>
            </a:pPr>
            <a:r>
              <a:rPr lang="en-US" sz="136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# No safe move → keep current direction (death is likely)</a:t>
            </a:r>
          </a:p>
          <a:p>
            <a:pPr algn="l">
              <a:lnSpc>
                <a:spcPts val="1905"/>
              </a:lnSpc>
            </a:pPr>
            <a:r>
              <a:rPr lang="en-US" sz="136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return self.direction</a:t>
            </a:r>
          </a:p>
          <a:p>
            <a:pPr algn="l">
              <a:lnSpc>
                <a:spcPts val="1905"/>
              </a:lnSpc>
              <a:spcBef>
                <a:spcPct val="0"/>
              </a:spcBef>
            </a:pPr>
            <a:endParaRPr lang="en-US" sz="1361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</p:txBody>
      </p:sp>
      <p:sp>
        <p:nvSpPr>
          <p:cNvPr id="12" name="Freeform 2">
            <a:extLst>
              <a:ext uri="{FF2B5EF4-FFF2-40B4-BE49-F238E27FC236}">
                <a16:creationId xmlns:a16="http://schemas.microsoft.com/office/drawing/2014/main" id="{381D6704-C97C-C066-75D7-67B5BDDA536A}"/>
              </a:ext>
            </a:extLst>
          </p:cNvPr>
          <p:cNvSpPr/>
          <p:nvPr/>
        </p:nvSpPr>
        <p:spPr>
          <a:xfrm rot="162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2847320" h="18288000">
                <a:moveTo>
                  <a:pt x="0" y="0"/>
                </a:moveTo>
                <a:lnTo>
                  <a:pt x="12847320" y="0"/>
                </a:lnTo>
                <a:lnTo>
                  <a:pt x="1284732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w="200025" cap="sq">
            <a:solidFill>
              <a:srgbClr val="39FF14"/>
            </a:solidFill>
            <a:prstDash val="solid"/>
            <a:miter/>
          </a:ln>
        </p:spPr>
      </p:sp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5279529" y="284159"/>
            <a:ext cx="3008471" cy="1783413"/>
          </a:xfrm>
          <a:custGeom>
            <a:avLst/>
            <a:gdLst/>
            <a:ahLst/>
            <a:cxnLst/>
            <a:rect l="l" t="t" r="r" b="b"/>
            <a:pathLst>
              <a:path w="3008471" h="1783413">
                <a:moveTo>
                  <a:pt x="0" y="0"/>
                </a:moveTo>
                <a:lnTo>
                  <a:pt x="3008471" y="0"/>
                </a:lnTo>
                <a:lnTo>
                  <a:pt x="3008471" y="1783413"/>
                </a:lnTo>
                <a:lnTo>
                  <a:pt x="0" y="17834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908" r="-353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25943" y="223632"/>
            <a:ext cx="2152650" cy="1904467"/>
          </a:xfrm>
          <a:custGeom>
            <a:avLst/>
            <a:gdLst/>
            <a:ahLst/>
            <a:cxnLst/>
            <a:rect l="l" t="t" r="r" b="b"/>
            <a:pathLst>
              <a:path w="2152650" h="1904467">
                <a:moveTo>
                  <a:pt x="0" y="0"/>
                </a:moveTo>
                <a:lnTo>
                  <a:pt x="2152650" y="0"/>
                </a:lnTo>
                <a:lnTo>
                  <a:pt x="2152650" y="1904467"/>
                </a:lnTo>
                <a:lnTo>
                  <a:pt x="0" y="1904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3531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587015" y="1899558"/>
            <a:ext cx="8556985" cy="7570104"/>
            <a:chOff x="0" y="0"/>
            <a:chExt cx="2378730" cy="2104390"/>
          </a:xfrm>
        </p:grpSpPr>
        <p:sp>
          <p:nvSpPr>
            <p:cNvPr id="6" name="Freeform 6"/>
            <p:cNvSpPr/>
            <p:nvPr/>
          </p:nvSpPr>
          <p:spPr>
            <a:xfrm>
              <a:off x="12336" y="-267"/>
              <a:ext cx="2381944" cy="2106424"/>
            </a:xfrm>
            <a:custGeom>
              <a:avLst/>
              <a:gdLst/>
              <a:ahLst/>
              <a:cxnLst/>
              <a:rect l="l" t="t" r="r" b="b"/>
              <a:pathLst>
                <a:path w="2381944" h="2106424">
                  <a:moveTo>
                    <a:pt x="2363268" y="799097"/>
                  </a:moveTo>
                  <a:cubicBezTo>
                    <a:pt x="2362226" y="623837"/>
                    <a:pt x="2353891" y="411747"/>
                    <a:pt x="2353891" y="221247"/>
                  </a:cubicBezTo>
                  <a:cubicBezTo>
                    <a:pt x="2353891" y="169177"/>
                    <a:pt x="2352849" y="65037"/>
                    <a:pt x="2347639" y="12967"/>
                  </a:cubicBezTo>
                  <a:cubicBezTo>
                    <a:pt x="2222608" y="12967"/>
                    <a:pt x="2088198" y="267"/>
                    <a:pt x="1962125" y="267"/>
                  </a:cubicBezTo>
                  <a:cubicBezTo>
                    <a:pt x="1306750" y="2807"/>
                    <a:pt x="657626" y="-1003"/>
                    <a:pt x="3293" y="267"/>
                  </a:cubicBezTo>
                  <a:cubicBezTo>
                    <a:pt x="3293" y="170447"/>
                    <a:pt x="-875" y="359677"/>
                    <a:pt x="167" y="529857"/>
                  </a:cubicBezTo>
                  <a:cubicBezTo>
                    <a:pt x="2251" y="847357"/>
                    <a:pt x="5377" y="1166127"/>
                    <a:pt x="5377" y="1483627"/>
                  </a:cubicBezTo>
                  <a:cubicBezTo>
                    <a:pt x="5377" y="1637297"/>
                    <a:pt x="4335" y="1789697"/>
                    <a:pt x="10586" y="1943367"/>
                  </a:cubicBezTo>
                  <a:cubicBezTo>
                    <a:pt x="12670" y="1992897"/>
                    <a:pt x="14754" y="2041157"/>
                    <a:pt x="18922" y="2090687"/>
                  </a:cubicBezTo>
                  <a:cubicBezTo>
                    <a:pt x="156457" y="2093227"/>
                    <a:pt x="292950" y="2097037"/>
                    <a:pt x="430485" y="2102117"/>
                  </a:cubicBezTo>
                  <a:cubicBezTo>
                    <a:pt x="796203" y="2114817"/>
                    <a:pt x="1151502" y="2094497"/>
                    <a:pt x="1528681" y="2103387"/>
                  </a:cubicBezTo>
                  <a:cubicBezTo>
                    <a:pt x="1813128" y="2109737"/>
                    <a:pt x="2092366" y="2090687"/>
                    <a:pt x="2379094" y="2090687"/>
                  </a:cubicBezTo>
                  <a:cubicBezTo>
                    <a:pt x="2379094" y="2074177"/>
                    <a:pt x="2380364" y="1977657"/>
                    <a:pt x="2381634" y="1961147"/>
                  </a:cubicBezTo>
                  <a:cubicBezTo>
                    <a:pt x="2384174" y="1862087"/>
                    <a:pt x="2370204" y="1676667"/>
                    <a:pt x="2371474" y="1577607"/>
                  </a:cubicBezTo>
                  <a:cubicBezTo>
                    <a:pt x="2377824" y="1169937"/>
                    <a:pt x="2365352" y="1150887"/>
                    <a:pt x="2363268" y="799097"/>
                  </a:cubicBezTo>
                  <a:close/>
                </a:path>
              </a:pathLst>
            </a:custGeom>
            <a:blipFill>
              <a:blip r:embed="rId4"/>
              <a:stretch>
                <a:fillRect l="-10867" t="-12" r="-11094" b="-12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028700" y="1902795"/>
            <a:ext cx="7018935" cy="7496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7"/>
              </a:lnSpc>
            </a:pPr>
            <a:r>
              <a:rPr lang="en-US" sz="169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DEF UPDATE(SELF):</a:t>
            </a:r>
          </a:p>
          <a:p>
            <a:pPr algn="l">
              <a:lnSpc>
                <a:spcPts val="2367"/>
              </a:lnSpc>
            </a:pPr>
            <a:r>
              <a:rPr lang="en-US" sz="169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"""UPDATE SNAKE POSITION AND HANDLE COLLISIONS."""</a:t>
            </a:r>
          </a:p>
          <a:p>
            <a:pPr algn="l">
              <a:lnSpc>
                <a:spcPts val="2367"/>
              </a:lnSpc>
            </a:pPr>
            <a:r>
              <a:rPr lang="en-US" sz="169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IF NOT SELF.ALIVE:</a:t>
            </a:r>
          </a:p>
          <a:p>
            <a:pPr algn="l">
              <a:lnSpc>
                <a:spcPts val="2367"/>
              </a:lnSpc>
            </a:pPr>
            <a:r>
              <a:rPr lang="en-US" sz="169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RETURN</a:t>
            </a:r>
          </a:p>
          <a:p>
            <a:pPr algn="l">
              <a:lnSpc>
                <a:spcPts val="2367"/>
              </a:lnSpc>
            </a:pPr>
            <a:endParaRPr lang="en-US" sz="1690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2367"/>
              </a:lnSpc>
            </a:pPr>
            <a:r>
              <a:rPr lang="en-US" sz="169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SELF.DIRECTION = SELF.CHOOSE_MOVE()</a:t>
            </a:r>
          </a:p>
          <a:p>
            <a:pPr algn="l">
              <a:lnSpc>
                <a:spcPts val="2367"/>
              </a:lnSpc>
            </a:pPr>
            <a:r>
              <a:rPr lang="en-US" sz="169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HEAD = SELF.SNAKE[0]</a:t>
            </a:r>
          </a:p>
          <a:p>
            <a:pPr algn="l">
              <a:lnSpc>
                <a:spcPts val="2367"/>
              </a:lnSpc>
            </a:pPr>
            <a:r>
              <a:rPr lang="en-US" sz="169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DX, DY = SELF.DIRECTION</a:t>
            </a:r>
          </a:p>
          <a:p>
            <a:pPr algn="l">
              <a:lnSpc>
                <a:spcPts val="2367"/>
              </a:lnSpc>
            </a:pPr>
            <a:r>
              <a:rPr lang="en-US" sz="169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NX, NY = HEAD[0] + DX, HEAD[1] + DY</a:t>
            </a:r>
          </a:p>
          <a:p>
            <a:pPr algn="l">
              <a:lnSpc>
                <a:spcPts val="2367"/>
              </a:lnSpc>
            </a:pPr>
            <a:endParaRPr lang="en-US" sz="1690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2367"/>
              </a:lnSpc>
            </a:pPr>
            <a:r>
              <a:rPr lang="en-US" sz="169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# COLLISION DETECTION</a:t>
            </a:r>
          </a:p>
          <a:p>
            <a:pPr algn="l">
              <a:lnSpc>
                <a:spcPts val="2367"/>
              </a:lnSpc>
            </a:pPr>
            <a:r>
              <a:rPr lang="en-US" sz="169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IF NOT (0 &lt;= NX &lt; GRID_W AND 0 &lt;= NY &lt; GRID_H) OR (NX, NY) IN SELF.SNAKE:</a:t>
            </a:r>
          </a:p>
          <a:p>
            <a:pPr algn="l">
              <a:lnSpc>
                <a:spcPts val="2367"/>
              </a:lnSpc>
            </a:pPr>
            <a:r>
              <a:rPr lang="en-US" sz="169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SELF.ALIVE = FALSE</a:t>
            </a:r>
          </a:p>
          <a:p>
            <a:pPr algn="l">
              <a:lnSpc>
                <a:spcPts val="2367"/>
              </a:lnSpc>
            </a:pPr>
            <a:r>
              <a:rPr lang="en-US" sz="169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RETURN</a:t>
            </a:r>
          </a:p>
          <a:p>
            <a:pPr algn="l">
              <a:lnSpc>
                <a:spcPts val="2367"/>
              </a:lnSpc>
            </a:pPr>
            <a:endParaRPr lang="en-US" sz="1690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2367"/>
              </a:lnSpc>
            </a:pPr>
            <a:r>
              <a:rPr lang="en-US" sz="169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# MOVE SNAKE</a:t>
            </a:r>
          </a:p>
          <a:p>
            <a:pPr algn="l">
              <a:lnSpc>
                <a:spcPts val="2367"/>
              </a:lnSpc>
            </a:pPr>
            <a:r>
              <a:rPr lang="en-US" sz="169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SELF.SNAKE.INSERT(0, (NX, NY))</a:t>
            </a:r>
          </a:p>
          <a:p>
            <a:pPr algn="l">
              <a:lnSpc>
                <a:spcPts val="2367"/>
              </a:lnSpc>
            </a:pPr>
            <a:endParaRPr lang="en-US" sz="1690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2367"/>
              </a:lnSpc>
            </a:pPr>
            <a:r>
              <a:rPr lang="en-US" sz="169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IF (NX, NY) == SELF.FOOD:</a:t>
            </a:r>
          </a:p>
          <a:p>
            <a:pPr algn="l">
              <a:lnSpc>
                <a:spcPts val="2367"/>
              </a:lnSpc>
            </a:pPr>
            <a:r>
              <a:rPr lang="en-US" sz="169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SELF.FOODS += 1</a:t>
            </a:r>
          </a:p>
          <a:p>
            <a:pPr algn="l">
              <a:lnSpc>
                <a:spcPts val="2367"/>
              </a:lnSpc>
            </a:pPr>
            <a:r>
              <a:rPr lang="en-US" sz="169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SELF.SPAWN_FOOD()</a:t>
            </a:r>
          </a:p>
          <a:p>
            <a:pPr algn="l">
              <a:lnSpc>
                <a:spcPts val="2367"/>
              </a:lnSpc>
            </a:pPr>
            <a:r>
              <a:rPr lang="en-US" sz="169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ELSE:</a:t>
            </a:r>
          </a:p>
          <a:p>
            <a:pPr algn="l">
              <a:lnSpc>
                <a:spcPts val="2367"/>
              </a:lnSpc>
              <a:spcBef>
                <a:spcPct val="0"/>
              </a:spcBef>
            </a:pPr>
            <a:r>
              <a:rPr lang="en-US" sz="169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SELF.SNAKE.POP()</a:t>
            </a:r>
          </a:p>
          <a:p>
            <a:pPr algn="l">
              <a:lnSpc>
                <a:spcPts val="2367"/>
              </a:lnSpc>
              <a:spcBef>
                <a:spcPct val="0"/>
              </a:spcBef>
            </a:pPr>
            <a:endParaRPr lang="en-US" sz="1690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551333" y="827659"/>
            <a:ext cx="9185335" cy="411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3"/>
              </a:lnSpc>
            </a:pPr>
            <a:r>
              <a:rPr lang="en-US" sz="2799">
                <a:solidFill>
                  <a:srgbClr val="39FF14"/>
                </a:solidFill>
                <a:latin typeface="Pixellet TH"/>
                <a:ea typeface="Pixellet TH"/>
                <a:cs typeface="Pixellet TH"/>
                <a:sym typeface="Pixellet TH"/>
              </a:rPr>
              <a:t>THE SNAKEBOARD CLASS: UPTADE ADE DRAW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334350" y="1899558"/>
            <a:ext cx="8556985" cy="7570104"/>
            <a:chOff x="0" y="0"/>
            <a:chExt cx="2378730" cy="2104390"/>
          </a:xfrm>
        </p:grpSpPr>
        <p:sp>
          <p:nvSpPr>
            <p:cNvPr id="10" name="Freeform 10"/>
            <p:cNvSpPr/>
            <p:nvPr/>
          </p:nvSpPr>
          <p:spPr>
            <a:xfrm>
              <a:off x="12336" y="-267"/>
              <a:ext cx="2381944" cy="2106424"/>
            </a:xfrm>
            <a:custGeom>
              <a:avLst/>
              <a:gdLst/>
              <a:ahLst/>
              <a:cxnLst/>
              <a:rect l="l" t="t" r="r" b="b"/>
              <a:pathLst>
                <a:path w="2381944" h="2106424">
                  <a:moveTo>
                    <a:pt x="2363268" y="799097"/>
                  </a:moveTo>
                  <a:cubicBezTo>
                    <a:pt x="2362226" y="623837"/>
                    <a:pt x="2353891" y="411747"/>
                    <a:pt x="2353891" y="221247"/>
                  </a:cubicBezTo>
                  <a:cubicBezTo>
                    <a:pt x="2353891" y="169177"/>
                    <a:pt x="2352849" y="65037"/>
                    <a:pt x="2347639" y="12967"/>
                  </a:cubicBezTo>
                  <a:cubicBezTo>
                    <a:pt x="2222608" y="12967"/>
                    <a:pt x="2088198" y="267"/>
                    <a:pt x="1962125" y="267"/>
                  </a:cubicBezTo>
                  <a:cubicBezTo>
                    <a:pt x="1306750" y="2807"/>
                    <a:pt x="657626" y="-1003"/>
                    <a:pt x="3293" y="267"/>
                  </a:cubicBezTo>
                  <a:cubicBezTo>
                    <a:pt x="3293" y="170447"/>
                    <a:pt x="-875" y="359677"/>
                    <a:pt x="167" y="529857"/>
                  </a:cubicBezTo>
                  <a:cubicBezTo>
                    <a:pt x="2251" y="847357"/>
                    <a:pt x="5377" y="1166127"/>
                    <a:pt x="5377" y="1483627"/>
                  </a:cubicBezTo>
                  <a:cubicBezTo>
                    <a:pt x="5377" y="1637297"/>
                    <a:pt x="4335" y="1789697"/>
                    <a:pt x="10586" y="1943367"/>
                  </a:cubicBezTo>
                  <a:cubicBezTo>
                    <a:pt x="12670" y="1992897"/>
                    <a:pt x="14754" y="2041157"/>
                    <a:pt x="18922" y="2090687"/>
                  </a:cubicBezTo>
                  <a:cubicBezTo>
                    <a:pt x="156457" y="2093227"/>
                    <a:pt x="292950" y="2097037"/>
                    <a:pt x="430485" y="2102117"/>
                  </a:cubicBezTo>
                  <a:cubicBezTo>
                    <a:pt x="796203" y="2114817"/>
                    <a:pt x="1151502" y="2094497"/>
                    <a:pt x="1528681" y="2103387"/>
                  </a:cubicBezTo>
                  <a:cubicBezTo>
                    <a:pt x="1813128" y="2109737"/>
                    <a:pt x="2092366" y="2090687"/>
                    <a:pt x="2379094" y="2090687"/>
                  </a:cubicBezTo>
                  <a:cubicBezTo>
                    <a:pt x="2379094" y="2074177"/>
                    <a:pt x="2380364" y="1977657"/>
                    <a:pt x="2381634" y="1961147"/>
                  </a:cubicBezTo>
                  <a:cubicBezTo>
                    <a:pt x="2384174" y="1862087"/>
                    <a:pt x="2370204" y="1676667"/>
                    <a:pt x="2371474" y="1577607"/>
                  </a:cubicBezTo>
                  <a:cubicBezTo>
                    <a:pt x="2377824" y="1169937"/>
                    <a:pt x="2365352" y="1150887"/>
                    <a:pt x="2363268" y="799097"/>
                  </a:cubicBezTo>
                  <a:close/>
                </a:path>
              </a:pathLst>
            </a:custGeom>
            <a:blipFill>
              <a:blip r:embed="rId4"/>
              <a:stretch>
                <a:fillRect l="-10533" t="-12" r="-11427" b="-12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9587779" y="1921845"/>
            <a:ext cx="6737247" cy="7714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# Draw grid lines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for x in range(GRID_W):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For y in range(GRID_H):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rect = pygame.Rect(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  self.offset_x + x * CELL_SIZE,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  y * CELL_SIZE,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  CELL_SIZE,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  CELL_SIZE,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)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pygame.draw.rect(screen, GRAY, rect, 1)</a:t>
            </a:r>
          </a:p>
          <a:p>
            <a:pPr algn="l">
              <a:lnSpc>
                <a:spcPts val="1679"/>
              </a:lnSpc>
            </a:pPr>
            <a:endParaRPr lang="en-US" sz="1200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# Draw snake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for i, (x, y) in enumerate(self.snake):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Rect = pygame.Rect(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self.offset_x + x * CELL_SIZE,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y * CELL_SIZE,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CELL_SIZE,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CELL_SIZE,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)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if i == 0: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pygame.draw.rect(screen, YELLOW, RECt, border_radius=4) # Head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else: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pygame.draw.rect(screen, GREEN, rect, BORder_radius=4) # Body</a:t>
            </a:r>
          </a:p>
          <a:p>
            <a:pPr algn="l">
              <a:lnSpc>
                <a:spcPts val="1679"/>
              </a:lnSpc>
            </a:pPr>
            <a:endParaRPr lang="en-US" sz="1200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# Draw fooD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Fx, fy = self.food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rect = pygame.Rect(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SELF.OFfset_x + fx * CELL_SIZE,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fy * CELL_SIZE,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CELL_SIZE,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CELL_SIZE,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)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pygame.draw.rect(screen, RED, rect, border_radius=4)</a:t>
            </a:r>
          </a:p>
          <a:p>
            <a:pPr algn="l">
              <a:lnSpc>
                <a:spcPts val="1679"/>
              </a:lnSpc>
            </a:pPr>
            <a:endParaRPr lang="en-US" sz="1200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PYGame.draw.rect(screen, BORDER, bg_rect, 3, border_radius=6)</a:t>
            </a:r>
          </a:p>
          <a:p>
            <a:pPr algn="l">
              <a:lnSpc>
                <a:spcPts val="1499"/>
              </a:lnSpc>
            </a:pPr>
            <a:endParaRPr lang="en-US" sz="1200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1499"/>
              </a:lnSpc>
              <a:spcBef>
                <a:spcPct val="0"/>
              </a:spcBef>
            </a:pPr>
            <a:endParaRPr lang="en-US" sz="1200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</p:txBody>
      </p:sp>
      <p:sp>
        <p:nvSpPr>
          <p:cNvPr id="12" name="Freeform 2">
            <a:extLst>
              <a:ext uri="{FF2B5EF4-FFF2-40B4-BE49-F238E27FC236}">
                <a16:creationId xmlns:a16="http://schemas.microsoft.com/office/drawing/2014/main" id="{5D8C7925-7B54-2ECC-C901-85F4FC665D6C}"/>
              </a:ext>
            </a:extLst>
          </p:cNvPr>
          <p:cNvSpPr/>
          <p:nvPr/>
        </p:nvSpPr>
        <p:spPr>
          <a:xfrm rot="162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2847320" h="18288000">
                <a:moveTo>
                  <a:pt x="0" y="0"/>
                </a:moveTo>
                <a:lnTo>
                  <a:pt x="12847320" y="0"/>
                </a:lnTo>
                <a:lnTo>
                  <a:pt x="1284732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w="200025" cap="sq">
            <a:solidFill>
              <a:srgbClr val="39FF14"/>
            </a:solidFill>
            <a:prstDash val="solid"/>
            <a:miter/>
          </a:ln>
        </p:spPr>
      </p:sp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5279529" y="284159"/>
            <a:ext cx="3008471" cy="1783413"/>
          </a:xfrm>
          <a:custGeom>
            <a:avLst/>
            <a:gdLst/>
            <a:ahLst/>
            <a:cxnLst/>
            <a:rect l="l" t="t" r="r" b="b"/>
            <a:pathLst>
              <a:path w="3008471" h="1783413">
                <a:moveTo>
                  <a:pt x="0" y="0"/>
                </a:moveTo>
                <a:lnTo>
                  <a:pt x="3008471" y="0"/>
                </a:lnTo>
                <a:lnTo>
                  <a:pt x="3008471" y="1783413"/>
                </a:lnTo>
                <a:lnTo>
                  <a:pt x="0" y="17834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908" r="-353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25943" y="223632"/>
            <a:ext cx="2152650" cy="1904467"/>
          </a:xfrm>
          <a:custGeom>
            <a:avLst/>
            <a:gdLst/>
            <a:ahLst/>
            <a:cxnLst/>
            <a:rect l="l" t="t" r="r" b="b"/>
            <a:pathLst>
              <a:path w="2152650" h="1904467">
                <a:moveTo>
                  <a:pt x="0" y="0"/>
                </a:moveTo>
                <a:lnTo>
                  <a:pt x="2152650" y="0"/>
                </a:lnTo>
                <a:lnTo>
                  <a:pt x="2152650" y="1904467"/>
                </a:lnTo>
                <a:lnTo>
                  <a:pt x="0" y="1904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3531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587015" y="1899558"/>
            <a:ext cx="8556985" cy="7570104"/>
            <a:chOff x="0" y="0"/>
            <a:chExt cx="2378730" cy="2104390"/>
          </a:xfrm>
        </p:grpSpPr>
        <p:sp>
          <p:nvSpPr>
            <p:cNvPr id="6" name="Freeform 6"/>
            <p:cNvSpPr/>
            <p:nvPr/>
          </p:nvSpPr>
          <p:spPr>
            <a:xfrm>
              <a:off x="12336" y="-267"/>
              <a:ext cx="2381944" cy="2106424"/>
            </a:xfrm>
            <a:custGeom>
              <a:avLst/>
              <a:gdLst/>
              <a:ahLst/>
              <a:cxnLst/>
              <a:rect l="l" t="t" r="r" b="b"/>
              <a:pathLst>
                <a:path w="2381944" h="2106424">
                  <a:moveTo>
                    <a:pt x="2363268" y="799097"/>
                  </a:moveTo>
                  <a:cubicBezTo>
                    <a:pt x="2362226" y="623837"/>
                    <a:pt x="2353891" y="411747"/>
                    <a:pt x="2353891" y="221247"/>
                  </a:cubicBezTo>
                  <a:cubicBezTo>
                    <a:pt x="2353891" y="169177"/>
                    <a:pt x="2352849" y="65037"/>
                    <a:pt x="2347639" y="12967"/>
                  </a:cubicBezTo>
                  <a:cubicBezTo>
                    <a:pt x="2222608" y="12967"/>
                    <a:pt x="2088198" y="267"/>
                    <a:pt x="1962125" y="267"/>
                  </a:cubicBezTo>
                  <a:cubicBezTo>
                    <a:pt x="1306750" y="2807"/>
                    <a:pt x="657626" y="-1003"/>
                    <a:pt x="3293" y="267"/>
                  </a:cubicBezTo>
                  <a:cubicBezTo>
                    <a:pt x="3293" y="170447"/>
                    <a:pt x="-875" y="359677"/>
                    <a:pt x="167" y="529857"/>
                  </a:cubicBezTo>
                  <a:cubicBezTo>
                    <a:pt x="2251" y="847357"/>
                    <a:pt x="5377" y="1166127"/>
                    <a:pt x="5377" y="1483627"/>
                  </a:cubicBezTo>
                  <a:cubicBezTo>
                    <a:pt x="5377" y="1637297"/>
                    <a:pt x="4335" y="1789697"/>
                    <a:pt x="10586" y="1943367"/>
                  </a:cubicBezTo>
                  <a:cubicBezTo>
                    <a:pt x="12670" y="1992897"/>
                    <a:pt x="14754" y="2041157"/>
                    <a:pt x="18922" y="2090687"/>
                  </a:cubicBezTo>
                  <a:cubicBezTo>
                    <a:pt x="156457" y="2093227"/>
                    <a:pt x="292950" y="2097037"/>
                    <a:pt x="430485" y="2102117"/>
                  </a:cubicBezTo>
                  <a:cubicBezTo>
                    <a:pt x="796203" y="2114817"/>
                    <a:pt x="1151502" y="2094497"/>
                    <a:pt x="1528681" y="2103387"/>
                  </a:cubicBezTo>
                  <a:cubicBezTo>
                    <a:pt x="1813128" y="2109737"/>
                    <a:pt x="2092366" y="2090687"/>
                    <a:pt x="2379094" y="2090687"/>
                  </a:cubicBezTo>
                  <a:cubicBezTo>
                    <a:pt x="2379094" y="2074177"/>
                    <a:pt x="2380364" y="1977657"/>
                    <a:pt x="2381634" y="1961147"/>
                  </a:cubicBezTo>
                  <a:cubicBezTo>
                    <a:pt x="2384174" y="1862087"/>
                    <a:pt x="2370204" y="1676667"/>
                    <a:pt x="2371474" y="1577607"/>
                  </a:cubicBezTo>
                  <a:cubicBezTo>
                    <a:pt x="2377824" y="1169937"/>
                    <a:pt x="2365352" y="1150887"/>
                    <a:pt x="2363268" y="799097"/>
                  </a:cubicBezTo>
                  <a:close/>
                </a:path>
              </a:pathLst>
            </a:custGeom>
            <a:blipFill>
              <a:blip r:embed="rId4"/>
              <a:stretch>
                <a:fillRect l="-10867" t="-12" r="-11094" b="-12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028700" y="1917039"/>
            <a:ext cx="8115300" cy="8211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sz="155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=============[ RACE GAME CLASS ]=================</a:t>
            </a:r>
          </a:p>
          <a:p>
            <a:pPr algn="l">
              <a:lnSpc>
                <a:spcPts val="2179"/>
              </a:lnSpc>
            </a:pPr>
            <a:r>
              <a:rPr lang="en-US" sz="155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CLASS RACEGAME:</a:t>
            </a:r>
          </a:p>
          <a:p>
            <a:pPr algn="l">
              <a:lnSpc>
                <a:spcPts val="2179"/>
              </a:lnSpc>
            </a:pPr>
            <a:r>
              <a:rPr lang="en-US" sz="155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"""</a:t>
            </a:r>
          </a:p>
          <a:p>
            <a:pPr algn="l">
              <a:lnSpc>
                <a:spcPts val="2179"/>
              </a:lnSpc>
            </a:pPr>
            <a:r>
              <a:rPr lang="en-US" sz="155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CONTROLS:</a:t>
            </a:r>
          </a:p>
          <a:p>
            <a:pPr algn="l">
              <a:lnSpc>
                <a:spcPts val="2179"/>
              </a:lnSpc>
            </a:pPr>
            <a:r>
              <a:rPr lang="en-US" sz="155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- BOTH SNAKE BOARDS (BFS VS A*)</a:t>
            </a:r>
          </a:p>
          <a:p>
            <a:pPr algn="l">
              <a:lnSpc>
                <a:spcPts val="2179"/>
              </a:lnSpc>
            </a:pPr>
            <a:r>
              <a:rPr lang="en-US" sz="155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- RENDERING</a:t>
            </a:r>
          </a:p>
          <a:p>
            <a:pPr algn="l">
              <a:lnSpc>
                <a:spcPts val="2179"/>
              </a:lnSpc>
            </a:pPr>
            <a:r>
              <a:rPr lang="en-US" sz="155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- STATISTICS PANEL</a:t>
            </a:r>
          </a:p>
          <a:p>
            <a:pPr algn="l">
              <a:lnSpc>
                <a:spcPts val="2179"/>
              </a:lnSpc>
            </a:pPr>
            <a:r>
              <a:rPr lang="en-US" sz="155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- MAIN GAME LOOP</a:t>
            </a:r>
          </a:p>
          <a:p>
            <a:pPr algn="l">
              <a:lnSpc>
                <a:spcPts val="2179"/>
              </a:lnSpc>
            </a:pPr>
            <a:r>
              <a:rPr lang="en-US" sz="155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"""</a:t>
            </a:r>
          </a:p>
          <a:p>
            <a:pPr algn="l">
              <a:lnSpc>
                <a:spcPts val="2179"/>
              </a:lnSpc>
            </a:pPr>
            <a:r>
              <a:rPr lang="en-US" sz="155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DEF INIT(SELF):</a:t>
            </a:r>
          </a:p>
          <a:p>
            <a:pPr algn="l">
              <a:lnSpc>
                <a:spcPts val="2179"/>
              </a:lnSpc>
            </a:pPr>
            <a:r>
              <a:rPr lang="en-US" sz="155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PYGAME.INIT()</a:t>
            </a:r>
          </a:p>
          <a:p>
            <a:pPr algn="l">
              <a:lnSpc>
                <a:spcPts val="2179"/>
              </a:lnSpc>
            </a:pPr>
            <a:r>
              <a:rPr lang="en-US" sz="155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PYGAME.DISPLAY.SET_CAPTION("SNAKE AI - BFS VS A*")</a:t>
            </a:r>
          </a:p>
          <a:p>
            <a:pPr algn="l">
              <a:lnSpc>
                <a:spcPts val="2179"/>
              </a:lnSpc>
            </a:pPr>
            <a:endParaRPr lang="en-US" sz="1556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2179"/>
              </a:lnSpc>
            </a:pPr>
            <a:r>
              <a:rPr lang="en-US" sz="155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SELF.SCREEN = PYGAME.DISPLAY.SET_MODE((WINDOW_W, WINDOW_H))</a:t>
            </a:r>
          </a:p>
          <a:p>
            <a:pPr algn="l">
              <a:lnSpc>
                <a:spcPts val="2179"/>
              </a:lnSpc>
            </a:pPr>
            <a:r>
              <a:rPr lang="en-US" sz="155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SELF.CLOCK = PYGAME.TIME.CLOCK()</a:t>
            </a:r>
          </a:p>
          <a:p>
            <a:pPr algn="l">
              <a:lnSpc>
                <a:spcPts val="2179"/>
              </a:lnSpc>
            </a:pPr>
            <a:endParaRPr lang="en-US" sz="1556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2179"/>
              </a:lnSpc>
            </a:pPr>
            <a:r>
              <a:rPr lang="en-US" sz="155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SELF.FONT = PYGAME.FONT.SYSFONT("CONSOLAS", 20)</a:t>
            </a:r>
          </a:p>
          <a:p>
            <a:pPr algn="l">
              <a:lnSpc>
                <a:spcPts val="2179"/>
              </a:lnSpc>
            </a:pPr>
            <a:r>
              <a:rPr lang="en-US" sz="155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SELF.TITLE_FONT = PYGAME.FONT.SYSFONT("CONSOLAS", 26, BOLD=TRUE)</a:t>
            </a:r>
          </a:p>
          <a:p>
            <a:pPr algn="l">
              <a:lnSpc>
                <a:spcPts val="2179"/>
              </a:lnSpc>
            </a:pPr>
            <a:endParaRPr lang="en-US" sz="1556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2179"/>
              </a:lnSpc>
            </a:pPr>
            <a:r>
              <a:rPr lang="en-US" sz="155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# TWO SIDE-BY-SIDE SNAKE BOARDS</a:t>
            </a:r>
          </a:p>
          <a:p>
            <a:pPr algn="l">
              <a:lnSpc>
                <a:spcPts val="2179"/>
              </a:lnSpc>
            </a:pPr>
            <a:r>
              <a:rPr lang="en-US" sz="155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SELF.BFS_BOARD = SNAKEBOARD("BFS", 0)</a:t>
            </a:r>
          </a:p>
          <a:p>
            <a:pPr algn="l">
              <a:lnSpc>
                <a:spcPts val="2179"/>
              </a:lnSpc>
            </a:pPr>
            <a:r>
              <a:rPr lang="en-US" sz="155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SELF.ASTAR_BOARD = SNAKEBOARD("ASTAR", BOARD_W)</a:t>
            </a:r>
          </a:p>
          <a:p>
            <a:pPr algn="l">
              <a:lnSpc>
                <a:spcPts val="2179"/>
              </a:lnSpc>
            </a:pPr>
            <a:endParaRPr lang="en-US" sz="1556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2179"/>
              </a:lnSpc>
            </a:pPr>
            <a:r>
              <a:rPr lang="en-US" sz="155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DEF DRAW_TEXT_CENTER(SELF, TEXT, FONT, COLOR, Y):</a:t>
            </a:r>
          </a:p>
          <a:p>
            <a:pPr algn="l">
              <a:lnSpc>
                <a:spcPts val="2179"/>
              </a:lnSpc>
            </a:pPr>
            <a:r>
              <a:rPr lang="en-US" sz="155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SURF = FONT.RENDER(TEXT, TRUE, COLOR)</a:t>
            </a:r>
          </a:p>
          <a:p>
            <a:pPr algn="l">
              <a:lnSpc>
                <a:spcPts val="2179"/>
              </a:lnSpc>
            </a:pPr>
            <a:r>
              <a:rPr lang="en-US" sz="155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RECT = SURF.GET_RECT(CENTER=(WINDOW_W // 2, Y))</a:t>
            </a:r>
          </a:p>
          <a:p>
            <a:pPr algn="l">
              <a:lnSpc>
                <a:spcPts val="2179"/>
              </a:lnSpc>
            </a:pPr>
            <a:r>
              <a:rPr lang="en-US" sz="155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SELF.SCREEN.BLIT(SURF, RECT)</a:t>
            </a:r>
          </a:p>
          <a:p>
            <a:pPr algn="l">
              <a:lnSpc>
                <a:spcPts val="2039"/>
              </a:lnSpc>
            </a:pPr>
            <a:endParaRPr lang="en-US" sz="1556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1899"/>
              </a:lnSpc>
            </a:pPr>
            <a:endParaRPr lang="en-US" sz="1556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1899"/>
              </a:lnSpc>
              <a:spcBef>
                <a:spcPct val="0"/>
              </a:spcBef>
            </a:pPr>
            <a:endParaRPr lang="en-US" sz="1556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551333" y="827659"/>
            <a:ext cx="9185335" cy="754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3"/>
              </a:lnSpc>
            </a:pPr>
            <a:r>
              <a:rPr lang="en-US" sz="2799">
                <a:solidFill>
                  <a:srgbClr val="39FF14"/>
                </a:solidFill>
                <a:latin typeface="Pixellet TH"/>
                <a:ea typeface="Pixellet TH"/>
                <a:cs typeface="Pixellet TH"/>
                <a:sym typeface="Pixellet TH"/>
              </a:rPr>
              <a:t>PERFORMANCE METRICS AND COMPARISON PANEL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334350" y="1899558"/>
            <a:ext cx="8556985" cy="7570104"/>
            <a:chOff x="0" y="0"/>
            <a:chExt cx="2378730" cy="2104390"/>
          </a:xfrm>
        </p:grpSpPr>
        <p:sp>
          <p:nvSpPr>
            <p:cNvPr id="10" name="Freeform 10"/>
            <p:cNvSpPr/>
            <p:nvPr/>
          </p:nvSpPr>
          <p:spPr>
            <a:xfrm>
              <a:off x="12336" y="-267"/>
              <a:ext cx="2381944" cy="2106424"/>
            </a:xfrm>
            <a:custGeom>
              <a:avLst/>
              <a:gdLst/>
              <a:ahLst/>
              <a:cxnLst/>
              <a:rect l="l" t="t" r="r" b="b"/>
              <a:pathLst>
                <a:path w="2381944" h="2106424">
                  <a:moveTo>
                    <a:pt x="2363268" y="799097"/>
                  </a:moveTo>
                  <a:cubicBezTo>
                    <a:pt x="2362226" y="623837"/>
                    <a:pt x="2353891" y="411747"/>
                    <a:pt x="2353891" y="221247"/>
                  </a:cubicBezTo>
                  <a:cubicBezTo>
                    <a:pt x="2353891" y="169177"/>
                    <a:pt x="2352849" y="65037"/>
                    <a:pt x="2347639" y="12967"/>
                  </a:cubicBezTo>
                  <a:cubicBezTo>
                    <a:pt x="2222608" y="12967"/>
                    <a:pt x="2088198" y="267"/>
                    <a:pt x="1962125" y="267"/>
                  </a:cubicBezTo>
                  <a:cubicBezTo>
                    <a:pt x="1306750" y="2807"/>
                    <a:pt x="657626" y="-1003"/>
                    <a:pt x="3293" y="267"/>
                  </a:cubicBezTo>
                  <a:cubicBezTo>
                    <a:pt x="3293" y="170447"/>
                    <a:pt x="-875" y="359677"/>
                    <a:pt x="167" y="529857"/>
                  </a:cubicBezTo>
                  <a:cubicBezTo>
                    <a:pt x="2251" y="847357"/>
                    <a:pt x="5377" y="1166127"/>
                    <a:pt x="5377" y="1483627"/>
                  </a:cubicBezTo>
                  <a:cubicBezTo>
                    <a:pt x="5377" y="1637297"/>
                    <a:pt x="4335" y="1789697"/>
                    <a:pt x="10586" y="1943367"/>
                  </a:cubicBezTo>
                  <a:cubicBezTo>
                    <a:pt x="12670" y="1992897"/>
                    <a:pt x="14754" y="2041157"/>
                    <a:pt x="18922" y="2090687"/>
                  </a:cubicBezTo>
                  <a:cubicBezTo>
                    <a:pt x="156457" y="2093227"/>
                    <a:pt x="292950" y="2097037"/>
                    <a:pt x="430485" y="2102117"/>
                  </a:cubicBezTo>
                  <a:cubicBezTo>
                    <a:pt x="796203" y="2114817"/>
                    <a:pt x="1151502" y="2094497"/>
                    <a:pt x="1528681" y="2103387"/>
                  </a:cubicBezTo>
                  <a:cubicBezTo>
                    <a:pt x="1813128" y="2109737"/>
                    <a:pt x="2092366" y="2090687"/>
                    <a:pt x="2379094" y="2090687"/>
                  </a:cubicBezTo>
                  <a:cubicBezTo>
                    <a:pt x="2379094" y="2074177"/>
                    <a:pt x="2380364" y="1977657"/>
                    <a:pt x="2381634" y="1961147"/>
                  </a:cubicBezTo>
                  <a:cubicBezTo>
                    <a:pt x="2384174" y="1862087"/>
                    <a:pt x="2370204" y="1676667"/>
                    <a:pt x="2371474" y="1577607"/>
                  </a:cubicBezTo>
                  <a:cubicBezTo>
                    <a:pt x="2377824" y="1169937"/>
                    <a:pt x="2365352" y="1150887"/>
                    <a:pt x="2363268" y="799097"/>
                  </a:cubicBezTo>
                  <a:close/>
                </a:path>
              </a:pathLst>
            </a:custGeom>
            <a:blipFill>
              <a:blip r:embed="rId4"/>
              <a:stretch>
                <a:fillRect l="-10533" t="-12" r="-11427" b="-12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9569614" y="1655126"/>
            <a:ext cx="8321721" cy="8001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endParaRPr/>
          </a:p>
          <a:p>
            <a:pPr algn="l">
              <a:lnSpc>
                <a:spcPts val="2124"/>
              </a:lnSpc>
            </a:pPr>
            <a:r>
              <a:rPr lang="en-US" sz="1517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def reset_game(self):</a:t>
            </a:r>
          </a:p>
          <a:p>
            <a:pPr algn="l">
              <a:lnSpc>
                <a:spcPts val="2124"/>
              </a:lnSpc>
            </a:pPr>
            <a:r>
              <a:rPr lang="en-US" sz="1517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"""Reset both boards."""</a:t>
            </a:r>
          </a:p>
          <a:p>
            <a:pPr algn="l">
              <a:lnSpc>
                <a:spcPts val="2124"/>
              </a:lnSpc>
            </a:pPr>
            <a:r>
              <a:rPr lang="en-US" sz="1517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self.bfs_board.reset()</a:t>
            </a:r>
          </a:p>
          <a:p>
            <a:pPr algn="l">
              <a:lnSpc>
                <a:spcPts val="2124"/>
              </a:lnSpc>
            </a:pPr>
            <a:r>
              <a:rPr lang="en-US" sz="1517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self.astar_board.reset()</a:t>
            </a:r>
          </a:p>
          <a:p>
            <a:pPr algn="l">
              <a:lnSpc>
                <a:spcPts val="2124"/>
              </a:lnSpc>
            </a:pPr>
            <a:endParaRPr lang="en-US" sz="1517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2124"/>
              </a:lnSpc>
            </a:pPr>
            <a:r>
              <a:rPr lang="en-US" sz="1517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DEF update(self):</a:t>
            </a:r>
          </a:p>
          <a:p>
            <a:pPr algn="l">
              <a:lnSpc>
                <a:spcPts val="2124"/>
              </a:lnSpc>
            </a:pPr>
            <a:r>
              <a:rPr lang="en-US" sz="1517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"""Update both boards."""</a:t>
            </a:r>
          </a:p>
          <a:p>
            <a:pPr algn="l">
              <a:lnSpc>
                <a:spcPts val="2124"/>
              </a:lnSpc>
            </a:pPr>
            <a:r>
              <a:rPr lang="en-US" sz="1517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self.bfs_bOARD.UPDATE()</a:t>
            </a:r>
          </a:p>
          <a:p>
            <a:pPr algn="l">
              <a:lnSpc>
                <a:spcPts val="2124"/>
              </a:lnSpc>
            </a:pPr>
            <a:r>
              <a:rPr lang="en-US" sz="1517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SELF.ASTAR_BOARD.UPDATE()</a:t>
            </a:r>
          </a:p>
          <a:p>
            <a:pPr algn="l">
              <a:lnSpc>
                <a:spcPts val="2124"/>
              </a:lnSpc>
            </a:pPr>
            <a:endParaRPr lang="en-US" sz="1517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2124"/>
              </a:lnSpc>
            </a:pPr>
            <a:r>
              <a:rPr lang="en-US" sz="1517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DEF DRAW_LABELS_OVER_BOARDS(SELF):</a:t>
            </a:r>
          </a:p>
          <a:p>
            <a:pPr algn="l">
              <a:lnSpc>
                <a:spcPts val="2124"/>
              </a:lnSpc>
            </a:pPr>
            <a:r>
              <a:rPr lang="en-US" sz="1517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BFS_LABEL = SELF.TITLE_FONT.RENDER("BFS", True, PURPLE)</a:t>
            </a:r>
          </a:p>
          <a:p>
            <a:pPr algn="l">
              <a:lnSpc>
                <a:spcPts val="2124"/>
              </a:lnSpc>
            </a:pPr>
            <a:r>
              <a:rPr lang="en-US" sz="1517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SELF.SCREEN.BLIT(bfs_label, bfs_label.get_rect(center=(BOARD_W // 2, 20)))</a:t>
            </a:r>
          </a:p>
          <a:p>
            <a:pPr algn="l">
              <a:lnSpc>
                <a:spcPts val="2124"/>
              </a:lnSpc>
            </a:pPr>
            <a:endParaRPr lang="en-US" sz="1517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2124"/>
              </a:lnSpc>
            </a:pPr>
            <a:r>
              <a:rPr lang="en-US" sz="1517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AST_LABEL = self.title_font.render("A*", True, BLUE)</a:t>
            </a:r>
          </a:p>
          <a:p>
            <a:pPr algn="l">
              <a:lnSpc>
                <a:spcPts val="2124"/>
              </a:lnSpc>
            </a:pPr>
            <a:r>
              <a:rPr lang="en-US" sz="1517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self.screen.blit(ast_label, ast_label.get_rect(center=(BOARD_W + BOARD_W // 2, 20)))</a:t>
            </a:r>
          </a:p>
          <a:p>
            <a:pPr algn="l">
              <a:lnSpc>
                <a:spcPts val="2124"/>
              </a:lnSpc>
            </a:pPr>
            <a:endParaRPr lang="en-US" sz="1517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2124"/>
              </a:lnSpc>
            </a:pPr>
            <a:r>
              <a:rPr lang="en-US" sz="1517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def draw_panel(self):</a:t>
            </a:r>
          </a:p>
          <a:p>
            <a:pPr algn="l">
              <a:lnSpc>
                <a:spcPts val="2124"/>
              </a:lnSpc>
            </a:pPr>
            <a:r>
              <a:rPr lang="en-US" sz="1517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"""Draw statistics and instructions panel."""</a:t>
            </a:r>
          </a:p>
          <a:p>
            <a:pPr algn="l">
              <a:lnSpc>
                <a:spcPts val="2124"/>
              </a:lnSpc>
            </a:pPr>
            <a:r>
              <a:rPr lang="en-US" sz="1517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PANEL_rect = pygame.Rect(0, BOARD_H, WINDOW_W, PANEL_H)</a:t>
            </a:r>
          </a:p>
          <a:p>
            <a:pPr algn="l">
              <a:lnSpc>
                <a:spcPts val="2124"/>
              </a:lnSpc>
            </a:pPr>
            <a:r>
              <a:rPr lang="en-US" sz="1517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PYGAME.DRAW.RECT(SELF.SCREEN, DARK2, panel_rect)</a:t>
            </a:r>
          </a:p>
          <a:p>
            <a:pPr algn="l">
              <a:lnSpc>
                <a:spcPts val="2124"/>
              </a:lnSpc>
            </a:pPr>
            <a:endParaRPr lang="en-US" sz="1517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2124"/>
              </a:lnSpc>
            </a:pPr>
            <a:r>
              <a:rPr lang="en-US" sz="1517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BFS_F = self.bfs_board.foods</a:t>
            </a:r>
          </a:p>
          <a:p>
            <a:pPr algn="l">
              <a:lnSpc>
                <a:spcPts val="2124"/>
              </a:lnSpc>
            </a:pPr>
            <a:r>
              <a:rPr lang="en-US" sz="1517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ast_f = self.astar_board.foods</a:t>
            </a:r>
          </a:p>
          <a:p>
            <a:pPr algn="l">
              <a:lnSpc>
                <a:spcPts val="2124"/>
              </a:lnSpc>
            </a:pPr>
            <a:endParaRPr lang="en-US" sz="1517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2124"/>
              </a:lnSpc>
            </a:pPr>
            <a:r>
              <a:rPr lang="en-US" sz="1517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bfs_nodes = self.bfs_board.nodes_expanded</a:t>
            </a:r>
          </a:p>
          <a:p>
            <a:pPr algn="l">
              <a:lnSpc>
                <a:spcPts val="2124"/>
              </a:lnSpc>
            </a:pPr>
            <a:r>
              <a:rPr lang="en-US" sz="1517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ast_nodes = self.astar_board.nodes_expanded</a:t>
            </a:r>
          </a:p>
          <a:p>
            <a:pPr algn="l">
              <a:lnSpc>
                <a:spcPts val="1984"/>
              </a:lnSpc>
              <a:spcBef>
                <a:spcPct val="0"/>
              </a:spcBef>
            </a:pPr>
            <a:endParaRPr lang="en-US" sz="1517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</p:txBody>
      </p:sp>
      <p:sp>
        <p:nvSpPr>
          <p:cNvPr id="12" name="Freeform 2">
            <a:extLst>
              <a:ext uri="{FF2B5EF4-FFF2-40B4-BE49-F238E27FC236}">
                <a16:creationId xmlns:a16="http://schemas.microsoft.com/office/drawing/2014/main" id="{5A2334CD-0BE7-3565-F372-B33737FDCDE0}"/>
              </a:ext>
            </a:extLst>
          </p:cNvPr>
          <p:cNvSpPr/>
          <p:nvPr/>
        </p:nvSpPr>
        <p:spPr>
          <a:xfrm rot="162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2847320" h="18288000">
                <a:moveTo>
                  <a:pt x="0" y="0"/>
                </a:moveTo>
                <a:lnTo>
                  <a:pt x="12847320" y="0"/>
                </a:lnTo>
                <a:lnTo>
                  <a:pt x="1284732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w="200025" cap="sq">
            <a:solidFill>
              <a:srgbClr val="39FF14"/>
            </a:solidFill>
            <a:prstDash val="solid"/>
            <a:miter/>
          </a:ln>
        </p:spPr>
      </p:sp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5279529" y="284159"/>
            <a:ext cx="3008471" cy="1783413"/>
          </a:xfrm>
          <a:custGeom>
            <a:avLst/>
            <a:gdLst/>
            <a:ahLst/>
            <a:cxnLst/>
            <a:rect l="l" t="t" r="r" b="b"/>
            <a:pathLst>
              <a:path w="3008471" h="1783413">
                <a:moveTo>
                  <a:pt x="0" y="0"/>
                </a:moveTo>
                <a:lnTo>
                  <a:pt x="3008471" y="0"/>
                </a:lnTo>
                <a:lnTo>
                  <a:pt x="3008471" y="1783413"/>
                </a:lnTo>
                <a:lnTo>
                  <a:pt x="0" y="17834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908" r="-353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25943" y="223632"/>
            <a:ext cx="2152650" cy="1904467"/>
          </a:xfrm>
          <a:custGeom>
            <a:avLst/>
            <a:gdLst/>
            <a:ahLst/>
            <a:cxnLst/>
            <a:rect l="l" t="t" r="r" b="b"/>
            <a:pathLst>
              <a:path w="2152650" h="1904467">
                <a:moveTo>
                  <a:pt x="0" y="0"/>
                </a:moveTo>
                <a:lnTo>
                  <a:pt x="2152650" y="0"/>
                </a:lnTo>
                <a:lnTo>
                  <a:pt x="2152650" y="1904467"/>
                </a:lnTo>
                <a:lnTo>
                  <a:pt x="0" y="1904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3531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587015" y="1899558"/>
            <a:ext cx="8556985" cy="7570104"/>
            <a:chOff x="0" y="0"/>
            <a:chExt cx="2378730" cy="2104390"/>
          </a:xfrm>
        </p:grpSpPr>
        <p:sp>
          <p:nvSpPr>
            <p:cNvPr id="6" name="Freeform 6"/>
            <p:cNvSpPr/>
            <p:nvPr/>
          </p:nvSpPr>
          <p:spPr>
            <a:xfrm>
              <a:off x="12336" y="-267"/>
              <a:ext cx="2381944" cy="2106424"/>
            </a:xfrm>
            <a:custGeom>
              <a:avLst/>
              <a:gdLst/>
              <a:ahLst/>
              <a:cxnLst/>
              <a:rect l="l" t="t" r="r" b="b"/>
              <a:pathLst>
                <a:path w="2381944" h="2106424">
                  <a:moveTo>
                    <a:pt x="2363268" y="799097"/>
                  </a:moveTo>
                  <a:cubicBezTo>
                    <a:pt x="2362226" y="623837"/>
                    <a:pt x="2353891" y="411747"/>
                    <a:pt x="2353891" y="221247"/>
                  </a:cubicBezTo>
                  <a:cubicBezTo>
                    <a:pt x="2353891" y="169177"/>
                    <a:pt x="2352849" y="65037"/>
                    <a:pt x="2347639" y="12967"/>
                  </a:cubicBezTo>
                  <a:cubicBezTo>
                    <a:pt x="2222608" y="12967"/>
                    <a:pt x="2088198" y="267"/>
                    <a:pt x="1962125" y="267"/>
                  </a:cubicBezTo>
                  <a:cubicBezTo>
                    <a:pt x="1306750" y="2807"/>
                    <a:pt x="657626" y="-1003"/>
                    <a:pt x="3293" y="267"/>
                  </a:cubicBezTo>
                  <a:cubicBezTo>
                    <a:pt x="3293" y="170447"/>
                    <a:pt x="-875" y="359677"/>
                    <a:pt x="167" y="529857"/>
                  </a:cubicBezTo>
                  <a:cubicBezTo>
                    <a:pt x="2251" y="847357"/>
                    <a:pt x="5377" y="1166127"/>
                    <a:pt x="5377" y="1483627"/>
                  </a:cubicBezTo>
                  <a:cubicBezTo>
                    <a:pt x="5377" y="1637297"/>
                    <a:pt x="4335" y="1789697"/>
                    <a:pt x="10586" y="1943367"/>
                  </a:cubicBezTo>
                  <a:cubicBezTo>
                    <a:pt x="12670" y="1992897"/>
                    <a:pt x="14754" y="2041157"/>
                    <a:pt x="18922" y="2090687"/>
                  </a:cubicBezTo>
                  <a:cubicBezTo>
                    <a:pt x="156457" y="2093227"/>
                    <a:pt x="292950" y="2097037"/>
                    <a:pt x="430485" y="2102117"/>
                  </a:cubicBezTo>
                  <a:cubicBezTo>
                    <a:pt x="796203" y="2114817"/>
                    <a:pt x="1151502" y="2094497"/>
                    <a:pt x="1528681" y="2103387"/>
                  </a:cubicBezTo>
                  <a:cubicBezTo>
                    <a:pt x="1813128" y="2109737"/>
                    <a:pt x="2092366" y="2090687"/>
                    <a:pt x="2379094" y="2090687"/>
                  </a:cubicBezTo>
                  <a:cubicBezTo>
                    <a:pt x="2379094" y="2074177"/>
                    <a:pt x="2380364" y="1977657"/>
                    <a:pt x="2381634" y="1961147"/>
                  </a:cubicBezTo>
                  <a:cubicBezTo>
                    <a:pt x="2384174" y="1862087"/>
                    <a:pt x="2370204" y="1676667"/>
                    <a:pt x="2371474" y="1577607"/>
                  </a:cubicBezTo>
                  <a:cubicBezTo>
                    <a:pt x="2377824" y="1169937"/>
                    <a:pt x="2365352" y="1150887"/>
                    <a:pt x="2363268" y="799097"/>
                  </a:cubicBezTo>
                  <a:close/>
                </a:path>
              </a:pathLst>
            </a:custGeom>
            <a:blipFill>
              <a:blip r:embed="rId4"/>
              <a:stretch>
                <a:fillRect l="-10867" t="-12" r="-11094" b="-12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807857" y="1991372"/>
            <a:ext cx="8115300" cy="6865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05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# STATS OUTPUT</a:t>
            </a:r>
          </a:p>
          <a:p>
            <a:pPr algn="l">
              <a:lnSpc>
                <a:spcPts val="2879"/>
              </a:lnSpc>
            </a:pPr>
            <a:r>
              <a:rPr lang="en-US" sz="205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SELF.SCREEN.BLIT(</a:t>
            </a:r>
          </a:p>
          <a:p>
            <a:pPr algn="l">
              <a:lnSpc>
                <a:spcPts val="2879"/>
              </a:lnSpc>
            </a:pPr>
            <a:r>
              <a:rPr lang="en-US" sz="205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SELF.FONT.RENDER(</a:t>
            </a:r>
          </a:p>
          <a:p>
            <a:pPr algn="l">
              <a:lnSpc>
                <a:spcPts val="2879"/>
              </a:lnSpc>
            </a:pPr>
            <a:r>
              <a:rPr lang="en-US" sz="205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F"BFS - FOODS: {BFS_F} | NODES EXPANDED: {BFS_NODES}",</a:t>
            </a:r>
          </a:p>
          <a:p>
            <a:pPr algn="l">
              <a:lnSpc>
                <a:spcPts val="2879"/>
              </a:lnSpc>
            </a:pPr>
            <a:r>
              <a:rPr lang="en-US" sz="205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TRUE,</a:t>
            </a:r>
          </a:p>
          <a:p>
            <a:pPr algn="l">
              <a:lnSpc>
                <a:spcPts val="2879"/>
              </a:lnSpc>
            </a:pPr>
            <a:r>
              <a:rPr lang="en-US" sz="205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PURPLE,</a:t>
            </a:r>
          </a:p>
          <a:p>
            <a:pPr algn="l">
              <a:lnSpc>
                <a:spcPts val="2879"/>
              </a:lnSpc>
            </a:pPr>
            <a:r>
              <a:rPr lang="en-US" sz="205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),</a:t>
            </a:r>
          </a:p>
          <a:p>
            <a:pPr algn="l">
              <a:lnSpc>
                <a:spcPts val="2879"/>
              </a:lnSpc>
            </a:pPr>
            <a:r>
              <a:rPr lang="en-US" sz="205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(20, BOARD_H + 20),</a:t>
            </a:r>
          </a:p>
          <a:p>
            <a:pPr algn="l">
              <a:lnSpc>
                <a:spcPts val="2879"/>
              </a:lnSpc>
            </a:pPr>
            <a:r>
              <a:rPr lang="en-US" sz="205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)</a:t>
            </a:r>
          </a:p>
          <a:p>
            <a:pPr algn="l">
              <a:lnSpc>
                <a:spcPts val="2879"/>
              </a:lnSpc>
            </a:pPr>
            <a:endParaRPr lang="en-US" sz="2056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2879"/>
              </a:lnSpc>
            </a:pPr>
            <a:r>
              <a:rPr lang="en-US" sz="205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SELF.SCREEN.BLIT(</a:t>
            </a:r>
          </a:p>
          <a:p>
            <a:pPr algn="l">
              <a:lnSpc>
                <a:spcPts val="2879"/>
              </a:lnSpc>
            </a:pPr>
            <a:r>
              <a:rPr lang="en-US" sz="205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SELF.FONT.RENDER(</a:t>
            </a:r>
          </a:p>
          <a:p>
            <a:pPr algn="l">
              <a:lnSpc>
                <a:spcPts val="2879"/>
              </a:lnSpc>
            </a:pPr>
            <a:r>
              <a:rPr lang="en-US" sz="205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F"A* - FOODS: {AST_F} | NODES EXPANDED: {AST_NODES}",</a:t>
            </a:r>
          </a:p>
          <a:p>
            <a:pPr algn="l">
              <a:lnSpc>
                <a:spcPts val="2879"/>
              </a:lnSpc>
            </a:pPr>
            <a:r>
              <a:rPr lang="en-US" sz="205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TRUE,</a:t>
            </a:r>
          </a:p>
          <a:p>
            <a:pPr algn="l">
              <a:lnSpc>
                <a:spcPts val="2879"/>
              </a:lnSpc>
            </a:pPr>
            <a:r>
              <a:rPr lang="en-US" sz="205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BLUE,</a:t>
            </a:r>
          </a:p>
          <a:p>
            <a:pPr algn="l">
              <a:lnSpc>
                <a:spcPts val="2879"/>
              </a:lnSpc>
            </a:pPr>
            <a:r>
              <a:rPr lang="en-US" sz="205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),</a:t>
            </a:r>
          </a:p>
          <a:p>
            <a:pPr algn="l">
              <a:lnSpc>
                <a:spcPts val="2879"/>
              </a:lnSpc>
            </a:pPr>
            <a:r>
              <a:rPr lang="en-US" sz="205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(20, BOARD_H + 50),</a:t>
            </a:r>
          </a:p>
          <a:p>
            <a:pPr algn="l">
              <a:lnSpc>
                <a:spcPts val="2879"/>
              </a:lnSpc>
            </a:pPr>
            <a:r>
              <a:rPr lang="en-US" sz="205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)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endParaRPr lang="en-US" sz="2056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551333" y="827659"/>
            <a:ext cx="9185335" cy="411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3"/>
              </a:lnSpc>
            </a:pPr>
            <a:r>
              <a:rPr lang="en-US" sz="2799">
                <a:solidFill>
                  <a:srgbClr val="39FF14"/>
                </a:solidFill>
                <a:latin typeface="Pixellet TH"/>
                <a:ea typeface="Pixellet TH"/>
                <a:cs typeface="Pixellet TH"/>
                <a:sym typeface="Pixellet TH"/>
              </a:rPr>
              <a:t>OUTPUT AND CONTROLS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334350" y="1899558"/>
            <a:ext cx="8556985" cy="7570104"/>
            <a:chOff x="0" y="0"/>
            <a:chExt cx="2378730" cy="2104390"/>
          </a:xfrm>
        </p:grpSpPr>
        <p:sp>
          <p:nvSpPr>
            <p:cNvPr id="10" name="Freeform 10"/>
            <p:cNvSpPr/>
            <p:nvPr/>
          </p:nvSpPr>
          <p:spPr>
            <a:xfrm>
              <a:off x="12336" y="-267"/>
              <a:ext cx="2381944" cy="2106424"/>
            </a:xfrm>
            <a:custGeom>
              <a:avLst/>
              <a:gdLst/>
              <a:ahLst/>
              <a:cxnLst/>
              <a:rect l="l" t="t" r="r" b="b"/>
              <a:pathLst>
                <a:path w="2381944" h="2106424">
                  <a:moveTo>
                    <a:pt x="2363268" y="799097"/>
                  </a:moveTo>
                  <a:cubicBezTo>
                    <a:pt x="2362226" y="623837"/>
                    <a:pt x="2353891" y="411747"/>
                    <a:pt x="2353891" y="221247"/>
                  </a:cubicBezTo>
                  <a:cubicBezTo>
                    <a:pt x="2353891" y="169177"/>
                    <a:pt x="2352849" y="65037"/>
                    <a:pt x="2347639" y="12967"/>
                  </a:cubicBezTo>
                  <a:cubicBezTo>
                    <a:pt x="2222608" y="12967"/>
                    <a:pt x="2088198" y="267"/>
                    <a:pt x="1962125" y="267"/>
                  </a:cubicBezTo>
                  <a:cubicBezTo>
                    <a:pt x="1306750" y="2807"/>
                    <a:pt x="657626" y="-1003"/>
                    <a:pt x="3293" y="267"/>
                  </a:cubicBezTo>
                  <a:cubicBezTo>
                    <a:pt x="3293" y="170447"/>
                    <a:pt x="-875" y="359677"/>
                    <a:pt x="167" y="529857"/>
                  </a:cubicBezTo>
                  <a:cubicBezTo>
                    <a:pt x="2251" y="847357"/>
                    <a:pt x="5377" y="1166127"/>
                    <a:pt x="5377" y="1483627"/>
                  </a:cubicBezTo>
                  <a:cubicBezTo>
                    <a:pt x="5377" y="1637297"/>
                    <a:pt x="4335" y="1789697"/>
                    <a:pt x="10586" y="1943367"/>
                  </a:cubicBezTo>
                  <a:cubicBezTo>
                    <a:pt x="12670" y="1992897"/>
                    <a:pt x="14754" y="2041157"/>
                    <a:pt x="18922" y="2090687"/>
                  </a:cubicBezTo>
                  <a:cubicBezTo>
                    <a:pt x="156457" y="2093227"/>
                    <a:pt x="292950" y="2097037"/>
                    <a:pt x="430485" y="2102117"/>
                  </a:cubicBezTo>
                  <a:cubicBezTo>
                    <a:pt x="796203" y="2114817"/>
                    <a:pt x="1151502" y="2094497"/>
                    <a:pt x="1528681" y="2103387"/>
                  </a:cubicBezTo>
                  <a:cubicBezTo>
                    <a:pt x="1813128" y="2109737"/>
                    <a:pt x="2092366" y="2090687"/>
                    <a:pt x="2379094" y="2090687"/>
                  </a:cubicBezTo>
                  <a:cubicBezTo>
                    <a:pt x="2379094" y="2074177"/>
                    <a:pt x="2380364" y="1977657"/>
                    <a:pt x="2381634" y="1961147"/>
                  </a:cubicBezTo>
                  <a:cubicBezTo>
                    <a:pt x="2384174" y="1862087"/>
                    <a:pt x="2370204" y="1676667"/>
                    <a:pt x="2371474" y="1577607"/>
                  </a:cubicBezTo>
                  <a:cubicBezTo>
                    <a:pt x="2377824" y="1169937"/>
                    <a:pt x="2365352" y="1150887"/>
                    <a:pt x="2363268" y="799097"/>
                  </a:cubicBezTo>
                  <a:close/>
                </a:path>
              </a:pathLst>
            </a:custGeom>
            <a:blipFill>
              <a:blip r:embed="rId4"/>
              <a:stretch>
                <a:fillRect l="-10533" t="-12" r="-11427" b="-12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9761484" y="1842408"/>
            <a:ext cx="7289733" cy="7951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1"/>
              </a:lnSpc>
            </a:pPr>
            <a:r>
              <a:rPr lang="en-US" sz="13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# Controls</a:t>
            </a:r>
          </a:p>
          <a:p>
            <a:pPr algn="l">
              <a:lnSpc>
                <a:spcPts val="1861"/>
              </a:lnSpc>
            </a:pPr>
            <a:r>
              <a:rPr lang="en-US" sz="13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INFO = "ESC: Quit  |  R: Restart"</a:t>
            </a:r>
          </a:p>
          <a:p>
            <a:pPr algn="l">
              <a:lnSpc>
                <a:spcPts val="1861"/>
              </a:lnSpc>
            </a:pPr>
            <a:r>
              <a:rPr lang="en-US" sz="13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self.draw_text_center(info, self.font, WHITE, BOARD_H + PANEL_H - 30)</a:t>
            </a:r>
          </a:p>
          <a:p>
            <a:pPr algn="l">
              <a:lnSpc>
                <a:spcPts val="1861"/>
              </a:lnSpc>
            </a:pPr>
            <a:endParaRPr lang="en-US" sz="1329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1861"/>
              </a:lnSpc>
            </a:pPr>
            <a:r>
              <a:rPr lang="en-US" sz="13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DEF draw(self):</a:t>
            </a:r>
          </a:p>
          <a:p>
            <a:pPr algn="l">
              <a:lnSpc>
                <a:spcPts val="1861"/>
              </a:lnSpc>
            </a:pPr>
            <a:r>
              <a:rPr lang="en-US" sz="13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"""Render both boards and UI."""</a:t>
            </a:r>
          </a:p>
          <a:p>
            <a:pPr algn="l">
              <a:lnSpc>
                <a:spcPts val="1861"/>
              </a:lnSpc>
            </a:pPr>
            <a:r>
              <a:rPr lang="en-US" sz="13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SELF.SCREEN.FILL(DARK)</a:t>
            </a:r>
          </a:p>
          <a:p>
            <a:pPr algn="l">
              <a:lnSpc>
                <a:spcPts val="1861"/>
              </a:lnSpc>
            </a:pPr>
            <a:r>
              <a:rPr lang="en-US" sz="13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self.bfs_bOARD.DRAW(SELF.SCREEN)</a:t>
            </a:r>
          </a:p>
          <a:p>
            <a:pPr algn="l">
              <a:lnSpc>
                <a:spcPts val="1861"/>
              </a:lnSpc>
            </a:pPr>
            <a:r>
              <a:rPr lang="en-US" sz="13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SELF.ASTAR_BOARD.DRAW(SELF.SCREEN)</a:t>
            </a:r>
          </a:p>
          <a:p>
            <a:pPr algn="l">
              <a:lnSpc>
                <a:spcPts val="1861"/>
              </a:lnSpc>
            </a:pPr>
            <a:r>
              <a:rPr lang="en-US" sz="13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SELF.DRAW_LABELS_OVER_BOARDS()</a:t>
            </a:r>
          </a:p>
          <a:p>
            <a:pPr algn="l">
              <a:lnSpc>
                <a:spcPts val="1861"/>
              </a:lnSpc>
            </a:pPr>
            <a:r>
              <a:rPr lang="en-US" sz="13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SELF.DRAW_PANEL()</a:t>
            </a:r>
          </a:p>
          <a:p>
            <a:pPr algn="l">
              <a:lnSpc>
                <a:spcPts val="1861"/>
              </a:lnSpc>
            </a:pPr>
            <a:endParaRPr lang="en-US" sz="1329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1861"/>
              </a:lnSpc>
            </a:pPr>
            <a:r>
              <a:rPr lang="en-US" sz="13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DEF RUN(SELF):</a:t>
            </a:r>
          </a:p>
          <a:p>
            <a:pPr algn="l">
              <a:lnSpc>
                <a:spcPts val="1861"/>
              </a:lnSpc>
            </a:pPr>
            <a:r>
              <a:rPr lang="en-US" sz="13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"""MAIN EVENT LOOP."""</a:t>
            </a:r>
          </a:p>
          <a:p>
            <a:pPr algn="l">
              <a:lnSpc>
                <a:spcPts val="1861"/>
              </a:lnSpc>
            </a:pPr>
            <a:r>
              <a:rPr lang="en-US" sz="13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WHILE True:</a:t>
            </a:r>
          </a:p>
          <a:p>
            <a:pPr algn="l">
              <a:lnSpc>
                <a:spcPts val="1861"/>
              </a:lnSpc>
            </a:pPr>
            <a:r>
              <a:rPr lang="en-US" sz="13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FOR EVENT in pygame.event.get():</a:t>
            </a:r>
          </a:p>
          <a:p>
            <a:pPr algn="l">
              <a:lnSpc>
                <a:spcPts val="1861"/>
              </a:lnSpc>
            </a:pPr>
            <a:r>
              <a:rPr lang="en-US" sz="13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IF EVent.type == pygame.QUIT:</a:t>
            </a:r>
          </a:p>
          <a:p>
            <a:pPr algn="l">
              <a:lnSpc>
                <a:spcPts val="1861"/>
              </a:lnSpc>
            </a:pPr>
            <a:r>
              <a:rPr lang="en-US" sz="13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  PYGAMe.quit()</a:t>
            </a:r>
          </a:p>
          <a:p>
            <a:pPr algn="l">
              <a:lnSpc>
                <a:spcPts val="1861"/>
              </a:lnSpc>
            </a:pPr>
            <a:r>
              <a:rPr lang="en-US" sz="13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  sys.exit()</a:t>
            </a:r>
          </a:p>
          <a:p>
            <a:pPr algn="l">
              <a:lnSpc>
                <a:spcPts val="1861"/>
              </a:lnSpc>
            </a:pPr>
            <a:endParaRPr lang="en-US" sz="1329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1861"/>
              </a:lnSpc>
            </a:pPr>
            <a:r>
              <a:rPr lang="en-US" sz="13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If event.type == pygame.KEYDOWN:</a:t>
            </a:r>
          </a:p>
          <a:p>
            <a:pPr algn="l">
              <a:lnSpc>
                <a:spcPts val="1861"/>
              </a:lnSpc>
            </a:pPr>
            <a:r>
              <a:rPr lang="en-US" sz="13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  IF EVent.key == pygame.K_ESCAPE:</a:t>
            </a:r>
          </a:p>
          <a:p>
            <a:pPr algn="l">
              <a:lnSpc>
                <a:spcPts val="1861"/>
              </a:lnSpc>
            </a:pPr>
            <a:r>
              <a:rPr lang="en-US" sz="13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    PYGAME.QUIT()</a:t>
            </a:r>
          </a:p>
          <a:p>
            <a:pPr algn="l">
              <a:lnSpc>
                <a:spcPts val="1861"/>
              </a:lnSpc>
            </a:pPr>
            <a:r>
              <a:rPr lang="en-US" sz="13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    SYS.EXIT()</a:t>
            </a:r>
          </a:p>
          <a:p>
            <a:pPr algn="l">
              <a:lnSpc>
                <a:spcPts val="1861"/>
              </a:lnSpc>
            </a:pPr>
            <a:r>
              <a:rPr lang="en-US" sz="13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  ELIF EVENT.KEY == pygame.K_r:</a:t>
            </a:r>
          </a:p>
          <a:p>
            <a:pPr algn="l">
              <a:lnSpc>
                <a:spcPts val="1861"/>
              </a:lnSpc>
            </a:pPr>
            <a:r>
              <a:rPr lang="en-US" sz="13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    self.reset_game()</a:t>
            </a:r>
          </a:p>
          <a:p>
            <a:pPr algn="l">
              <a:lnSpc>
                <a:spcPts val="1861"/>
              </a:lnSpc>
            </a:pPr>
            <a:endParaRPr lang="en-US" sz="1329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1861"/>
              </a:lnSpc>
            </a:pPr>
            <a:r>
              <a:rPr lang="en-US" sz="13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self.update()</a:t>
            </a:r>
          </a:p>
          <a:p>
            <a:pPr algn="l">
              <a:lnSpc>
                <a:spcPts val="1861"/>
              </a:lnSpc>
            </a:pPr>
            <a:r>
              <a:rPr lang="en-US" sz="13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self.draw()</a:t>
            </a:r>
          </a:p>
          <a:p>
            <a:pPr algn="l">
              <a:lnSpc>
                <a:spcPts val="1861"/>
              </a:lnSpc>
            </a:pPr>
            <a:endParaRPr lang="en-US" sz="1329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1861"/>
              </a:lnSpc>
            </a:pPr>
            <a:r>
              <a:rPr lang="en-US" sz="13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pygame.display.update()</a:t>
            </a:r>
          </a:p>
          <a:p>
            <a:pPr algn="l">
              <a:lnSpc>
                <a:spcPts val="1861"/>
              </a:lnSpc>
            </a:pPr>
            <a:r>
              <a:rPr lang="en-US" sz="132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self.clock.tick(FPS)</a:t>
            </a:r>
          </a:p>
          <a:p>
            <a:pPr algn="l">
              <a:lnSpc>
                <a:spcPts val="1861"/>
              </a:lnSpc>
            </a:pPr>
            <a:endParaRPr lang="en-US" sz="1329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algn="l">
              <a:lnSpc>
                <a:spcPts val="1738"/>
              </a:lnSpc>
              <a:spcBef>
                <a:spcPct val="0"/>
              </a:spcBef>
            </a:pPr>
            <a:endParaRPr lang="en-US" sz="1329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</p:txBody>
      </p:sp>
      <p:sp>
        <p:nvSpPr>
          <p:cNvPr id="12" name="Freeform 2">
            <a:extLst>
              <a:ext uri="{FF2B5EF4-FFF2-40B4-BE49-F238E27FC236}">
                <a16:creationId xmlns:a16="http://schemas.microsoft.com/office/drawing/2014/main" id="{5EB48775-15C7-B9D5-97BB-8036ABF4FD87}"/>
              </a:ext>
            </a:extLst>
          </p:cNvPr>
          <p:cNvSpPr/>
          <p:nvPr/>
        </p:nvSpPr>
        <p:spPr>
          <a:xfrm rot="162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2847320" h="18288000">
                <a:moveTo>
                  <a:pt x="0" y="0"/>
                </a:moveTo>
                <a:lnTo>
                  <a:pt x="12847320" y="0"/>
                </a:lnTo>
                <a:lnTo>
                  <a:pt x="1284732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w="200025" cap="sq">
            <a:solidFill>
              <a:srgbClr val="39FF14"/>
            </a:solidFill>
            <a:prstDash val="solid"/>
            <a:miter/>
          </a:ln>
        </p:spPr>
      </p:sp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5279529" y="284159"/>
            <a:ext cx="3008471" cy="1783413"/>
          </a:xfrm>
          <a:custGeom>
            <a:avLst/>
            <a:gdLst/>
            <a:ahLst/>
            <a:cxnLst/>
            <a:rect l="l" t="t" r="r" b="b"/>
            <a:pathLst>
              <a:path w="3008471" h="1783413">
                <a:moveTo>
                  <a:pt x="0" y="0"/>
                </a:moveTo>
                <a:lnTo>
                  <a:pt x="3008471" y="0"/>
                </a:lnTo>
                <a:lnTo>
                  <a:pt x="3008471" y="1783413"/>
                </a:lnTo>
                <a:lnTo>
                  <a:pt x="0" y="17834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908" r="-353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25943" y="223632"/>
            <a:ext cx="2152650" cy="1904467"/>
          </a:xfrm>
          <a:custGeom>
            <a:avLst/>
            <a:gdLst/>
            <a:ahLst/>
            <a:cxnLst/>
            <a:rect l="l" t="t" r="r" b="b"/>
            <a:pathLst>
              <a:path w="2152650" h="1904467">
                <a:moveTo>
                  <a:pt x="0" y="0"/>
                </a:moveTo>
                <a:lnTo>
                  <a:pt x="2152650" y="0"/>
                </a:lnTo>
                <a:lnTo>
                  <a:pt x="2152650" y="1904467"/>
                </a:lnTo>
                <a:lnTo>
                  <a:pt x="0" y="1904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3531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4920904" y="1792732"/>
            <a:ext cx="12338396" cy="7570104"/>
            <a:chOff x="0" y="0"/>
            <a:chExt cx="3429913" cy="2104390"/>
          </a:xfrm>
        </p:grpSpPr>
        <p:sp>
          <p:nvSpPr>
            <p:cNvPr id="6" name="Freeform 6"/>
            <p:cNvSpPr/>
            <p:nvPr/>
          </p:nvSpPr>
          <p:spPr>
            <a:xfrm>
              <a:off x="17787" y="-267"/>
              <a:ext cx="3427675" cy="2106424"/>
            </a:xfrm>
            <a:custGeom>
              <a:avLst/>
              <a:gdLst/>
              <a:ahLst/>
              <a:cxnLst/>
              <a:rect l="l" t="t" r="r" b="b"/>
              <a:pathLst>
                <a:path w="3427675" h="2106424">
                  <a:moveTo>
                    <a:pt x="3407619" y="799097"/>
                  </a:moveTo>
                  <a:cubicBezTo>
                    <a:pt x="3406116" y="623837"/>
                    <a:pt x="3394098" y="411747"/>
                    <a:pt x="3394098" y="221247"/>
                  </a:cubicBezTo>
                  <a:cubicBezTo>
                    <a:pt x="3394098" y="169177"/>
                    <a:pt x="3392595" y="65037"/>
                    <a:pt x="3385083" y="12967"/>
                  </a:cubicBezTo>
                  <a:cubicBezTo>
                    <a:pt x="3204799" y="12967"/>
                    <a:pt x="3010993" y="267"/>
                    <a:pt x="2829206" y="267"/>
                  </a:cubicBezTo>
                  <a:cubicBezTo>
                    <a:pt x="1884215" y="2807"/>
                    <a:pt x="948238" y="-1003"/>
                    <a:pt x="4749" y="267"/>
                  </a:cubicBezTo>
                  <a:cubicBezTo>
                    <a:pt x="4749" y="170447"/>
                    <a:pt x="-1261" y="359677"/>
                    <a:pt x="241" y="529857"/>
                  </a:cubicBezTo>
                  <a:cubicBezTo>
                    <a:pt x="3246" y="847357"/>
                    <a:pt x="7753" y="1166127"/>
                    <a:pt x="7753" y="1483627"/>
                  </a:cubicBezTo>
                  <a:cubicBezTo>
                    <a:pt x="7753" y="1637297"/>
                    <a:pt x="6251" y="1789697"/>
                    <a:pt x="15265" y="1943367"/>
                  </a:cubicBezTo>
                  <a:cubicBezTo>
                    <a:pt x="18270" y="1992897"/>
                    <a:pt x="21275" y="2041157"/>
                    <a:pt x="27284" y="2090687"/>
                  </a:cubicBezTo>
                  <a:cubicBezTo>
                    <a:pt x="225597" y="2093227"/>
                    <a:pt x="422408" y="2097037"/>
                    <a:pt x="620721" y="2102117"/>
                  </a:cubicBezTo>
                  <a:cubicBezTo>
                    <a:pt x="1148053" y="2114817"/>
                    <a:pt x="1660361" y="2094497"/>
                    <a:pt x="2204220" y="2103387"/>
                  </a:cubicBezTo>
                  <a:cubicBezTo>
                    <a:pt x="2614367" y="2109737"/>
                    <a:pt x="3017002" y="2090687"/>
                    <a:pt x="3424826" y="2090687"/>
                  </a:cubicBezTo>
                  <a:cubicBezTo>
                    <a:pt x="3424826" y="2074177"/>
                    <a:pt x="3426096" y="1977657"/>
                    <a:pt x="3427366" y="1961147"/>
                  </a:cubicBezTo>
                  <a:cubicBezTo>
                    <a:pt x="3429906" y="1862087"/>
                    <a:pt x="3415936" y="1676667"/>
                    <a:pt x="3417206" y="1577607"/>
                  </a:cubicBezTo>
                  <a:cubicBezTo>
                    <a:pt x="3423556" y="1169937"/>
                    <a:pt x="3410624" y="1150887"/>
                    <a:pt x="3407619" y="799097"/>
                  </a:cubicBezTo>
                  <a:close/>
                </a:path>
              </a:pathLst>
            </a:custGeom>
            <a:blipFill>
              <a:blip r:embed="rId4"/>
              <a:stretch>
                <a:fillRect l="-518" t="-9629" r="-527" b="-9625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5277471" y="1852038"/>
            <a:ext cx="11981829" cy="7346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7027" lvl="1" indent="-283514" algn="l">
              <a:lnSpc>
                <a:spcPts val="3676"/>
              </a:lnSpc>
              <a:spcBef>
                <a:spcPct val="0"/>
              </a:spcBef>
              <a:buFont typeface="Arial"/>
              <a:buChar char="•"/>
            </a:pPr>
            <a:r>
              <a:rPr lang="en-US" sz="262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THE PRIMARY METRIC: NODES EXPANDED:</a:t>
            </a:r>
          </a:p>
          <a:p>
            <a:pPr marL="524675" lvl="1" indent="-262338" algn="l">
              <a:lnSpc>
                <a:spcPts val="3402"/>
              </a:lnSpc>
              <a:buAutoNum type="arabicPeriod"/>
            </a:pPr>
            <a:r>
              <a:rPr lang="en-US" sz="243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THIS IS THE DEFINITIVE MEASURE OF ALGORITHM EFFICIENCY AND COMPUTATIONAL OVERHEAD. EACH EXPANSION REPRESENTS PROCESSING TIME CONSUMED.</a:t>
            </a:r>
          </a:p>
          <a:p>
            <a:pPr marL="524675" lvl="1" indent="-262338" algn="l">
              <a:lnSpc>
                <a:spcPts val="3402"/>
              </a:lnSpc>
              <a:buAutoNum type="arabicPeriod"/>
            </a:pPr>
            <a:r>
              <a:rPr lang="en-US" sz="243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KEY FINDING: WE CONSISTENTLY OBSERVE THAT A* RECORDS A SIGNIFICANTLY LOWER COUNT OF NODES EXPANDED COMPARED TO BFS, PROVING ITS SUPERIOR EFFICIENCY IN PATHFINDING TASKS.</a:t>
            </a:r>
          </a:p>
          <a:p>
            <a:pPr algn="l">
              <a:lnSpc>
                <a:spcPts val="3402"/>
              </a:lnSpc>
            </a:pPr>
            <a:endParaRPr lang="en-US" sz="2430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marL="567027" lvl="1" indent="-283514" algn="l">
              <a:lnSpc>
                <a:spcPts val="3676"/>
              </a:lnSpc>
              <a:buFont typeface="Arial"/>
              <a:buChar char="•"/>
            </a:pPr>
            <a:r>
              <a:rPr lang="en-US" sz="262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SECONDARY METRIC: PATH QUALITY:</a:t>
            </a:r>
          </a:p>
          <a:p>
            <a:pPr marL="524675" lvl="1" indent="-262338" algn="l">
              <a:lnSpc>
                <a:spcPts val="3402"/>
              </a:lnSpc>
              <a:buAutoNum type="arabicPeriod"/>
            </a:pPr>
            <a:r>
              <a:rPr lang="en-US" sz="243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BOTH ALGORITHMS (BFS AND A*) GUARANTEE FINDING THE SHORTEST PATH TO THE FOOD.</a:t>
            </a:r>
          </a:p>
          <a:p>
            <a:pPr marL="524675" lvl="1" indent="-262338" algn="l">
              <a:lnSpc>
                <a:spcPts val="3402"/>
              </a:lnSpc>
              <a:buAutoNum type="arabicPeriod"/>
            </a:pPr>
            <a:r>
              <a:rPr lang="en-US" sz="243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ANALYSIS: A* ACHIEVES THE SAME PATH QUALITY AS BFS, BUT AT A FRACTION OF THE COMPUTATIONAL COST.</a:t>
            </a:r>
          </a:p>
          <a:p>
            <a:pPr algn="l">
              <a:lnSpc>
                <a:spcPts val="3402"/>
              </a:lnSpc>
            </a:pPr>
            <a:endParaRPr lang="en-US" sz="2430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  <a:p>
            <a:pPr marL="567027" lvl="1" indent="-283514" algn="l">
              <a:lnSpc>
                <a:spcPts val="3676"/>
              </a:lnSpc>
              <a:spcBef>
                <a:spcPct val="0"/>
              </a:spcBef>
              <a:buFont typeface="Arial"/>
              <a:buChar char="•"/>
            </a:pPr>
            <a:r>
              <a:rPr lang="en-US" sz="2626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VISUALIZATION : </a:t>
            </a:r>
          </a:p>
          <a:p>
            <a:pPr algn="l">
              <a:lnSpc>
                <a:spcPts val="3402"/>
              </a:lnSpc>
            </a:pPr>
            <a:r>
              <a:rPr lang="en-US" sz="243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THE RESULTS FOR FOODS EATEN AND NODES EXPANDED ARE DISPLAYED IN REAL-TIME ON THE STATISTICS PANEL BELOW THE BOARDS.</a:t>
            </a:r>
          </a:p>
          <a:p>
            <a:pPr algn="l">
              <a:lnSpc>
                <a:spcPts val="3129"/>
              </a:lnSpc>
              <a:spcBef>
                <a:spcPct val="0"/>
              </a:spcBef>
            </a:pPr>
            <a:endParaRPr lang="en-US" sz="2430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518360" y="3520384"/>
            <a:ext cx="3720465" cy="4114800"/>
          </a:xfrm>
          <a:custGeom>
            <a:avLst/>
            <a:gdLst/>
            <a:ahLst/>
            <a:cxnLst/>
            <a:rect l="l" t="t" r="r" b="b"/>
            <a:pathLst>
              <a:path w="3720465" h="4114800">
                <a:moveTo>
                  <a:pt x="0" y="0"/>
                </a:moveTo>
                <a:lnTo>
                  <a:pt x="3720465" y="0"/>
                </a:lnTo>
                <a:lnTo>
                  <a:pt x="37204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381095" y="8391487"/>
            <a:ext cx="1130625" cy="1225610"/>
          </a:xfrm>
          <a:custGeom>
            <a:avLst/>
            <a:gdLst/>
            <a:ahLst/>
            <a:cxnLst/>
            <a:rect l="l" t="t" r="r" b="b"/>
            <a:pathLst>
              <a:path w="1130625" h="1225610">
                <a:moveTo>
                  <a:pt x="0" y="0"/>
                </a:moveTo>
                <a:lnTo>
                  <a:pt x="1130625" y="0"/>
                </a:lnTo>
                <a:lnTo>
                  <a:pt x="1130625" y="1225610"/>
                </a:lnTo>
                <a:lnTo>
                  <a:pt x="0" y="12256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823192" y="803374"/>
            <a:ext cx="11495154" cy="754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3"/>
              </a:lnSpc>
            </a:pPr>
            <a:r>
              <a:rPr lang="en-US" sz="2799">
                <a:solidFill>
                  <a:srgbClr val="39FF14"/>
                </a:solidFill>
                <a:latin typeface="Pixellet TH"/>
                <a:ea typeface="Pixellet TH"/>
                <a:cs typeface="Pixellet TH"/>
                <a:sym typeface="Pixellet TH"/>
              </a:rPr>
              <a:t>HE PERFORMANCE RACE: ANALYZING EFFICIENCY METRICS (NODES EXPANDED VS PATH QUALITY)</a:t>
            </a:r>
          </a:p>
        </p:txBody>
      </p:sp>
      <p:sp>
        <p:nvSpPr>
          <p:cNvPr id="11" name="Freeform 11"/>
          <p:cNvSpPr/>
          <p:nvPr/>
        </p:nvSpPr>
        <p:spPr>
          <a:xfrm>
            <a:off x="225943" y="1792732"/>
            <a:ext cx="1130625" cy="1225610"/>
          </a:xfrm>
          <a:custGeom>
            <a:avLst/>
            <a:gdLst/>
            <a:ahLst/>
            <a:cxnLst/>
            <a:rect l="l" t="t" r="r" b="b"/>
            <a:pathLst>
              <a:path w="1130625" h="1225610">
                <a:moveTo>
                  <a:pt x="0" y="0"/>
                </a:moveTo>
                <a:lnTo>
                  <a:pt x="1130625" y="0"/>
                </a:lnTo>
                <a:lnTo>
                  <a:pt x="1130625" y="1225610"/>
                </a:lnTo>
                <a:lnTo>
                  <a:pt x="0" y="12256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Freeform 2">
            <a:extLst>
              <a:ext uri="{FF2B5EF4-FFF2-40B4-BE49-F238E27FC236}">
                <a16:creationId xmlns:a16="http://schemas.microsoft.com/office/drawing/2014/main" id="{4233B5ED-6D8A-3331-80E6-2E3CA203649F}"/>
              </a:ext>
            </a:extLst>
          </p:cNvPr>
          <p:cNvSpPr/>
          <p:nvPr/>
        </p:nvSpPr>
        <p:spPr>
          <a:xfrm rot="162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2847320" h="18288000">
                <a:moveTo>
                  <a:pt x="0" y="0"/>
                </a:moveTo>
                <a:lnTo>
                  <a:pt x="12847320" y="0"/>
                </a:lnTo>
                <a:lnTo>
                  <a:pt x="1284732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w="200025" cap="sq">
            <a:solidFill>
              <a:srgbClr val="39FF14"/>
            </a:solidFill>
            <a:prstDash val="solid"/>
            <a:miter/>
          </a:ln>
        </p:spPr>
      </p:sp>
    </p:spTree>
  </p:cSld>
  <p:clrMapOvr>
    <a:masterClrMapping/>
  </p:clrMapOvr>
  <p:transition spd="slow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5279529" y="284159"/>
            <a:ext cx="3008471" cy="1783413"/>
          </a:xfrm>
          <a:custGeom>
            <a:avLst/>
            <a:gdLst/>
            <a:ahLst/>
            <a:cxnLst/>
            <a:rect l="l" t="t" r="r" b="b"/>
            <a:pathLst>
              <a:path w="3008471" h="1783413">
                <a:moveTo>
                  <a:pt x="0" y="0"/>
                </a:moveTo>
                <a:lnTo>
                  <a:pt x="3008471" y="0"/>
                </a:lnTo>
                <a:lnTo>
                  <a:pt x="3008471" y="1783413"/>
                </a:lnTo>
                <a:lnTo>
                  <a:pt x="0" y="17834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908" r="-353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25943" y="223632"/>
            <a:ext cx="2152650" cy="1904467"/>
          </a:xfrm>
          <a:custGeom>
            <a:avLst/>
            <a:gdLst/>
            <a:ahLst/>
            <a:cxnLst/>
            <a:rect l="l" t="t" r="r" b="b"/>
            <a:pathLst>
              <a:path w="2152650" h="1904467">
                <a:moveTo>
                  <a:pt x="0" y="0"/>
                </a:moveTo>
                <a:lnTo>
                  <a:pt x="2152650" y="0"/>
                </a:lnTo>
                <a:lnTo>
                  <a:pt x="2152650" y="1904467"/>
                </a:lnTo>
                <a:lnTo>
                  <a:pt x="0" y="1904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3531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520446" y="2067572"/>
            <a:ext cx="12338396" cy="7570104"/>
            <a:chOff x="0" y="0"/>
            <a:chExt cx="3429913" cy="2104390"/>
          </a:xfrm>
        </p:grpSpPr>
        <p:sp>
          <p:nvSpPr>
            <p:cNvPr id="6" name="Freeform 6"/>
            <p:cNvSpPr/>
            <p:nvPr/>
          </p:nvSpPr>
          <p:spPr>
            <a:xfrm>
              <a:off x="17787" y="-267"/>
              <a:ext cx="3427675" cy="2106424"/>
            </a:xfrm>
            <a:custGeom>
              <a:avLst/>
              <a:gdLst/>
              <a:ahLst/>
              <a:cxnLst/>
              <a:rect l="l" t="t" r="r" b="b"/>
              <a:pathLst>
                <a:path w="3427675" h="2106424">
                  <a:moveTo>
                    <a:pt x="3407619" y="799097"/>
                  </a:moveTo>
                  <a:cubicBezTo>
                    <a:pt x="3406116" y="623837"/>
                    <a:pt x="3394098" y="411747"/>
                    <a:pt x="3394098" y="221247"/>
                  </a:cubicBezTo>
                  <a:cubicBezTo>
                    <a:pt x="3394098" y="169177"/>
                    <a:pt x="3392595" y="65037"/>
                    <a:pt x="3385083" y="12967"/>
                  </a:cubicBezTo>
                  <a:cubicBezTo>
                    <a:pt x="3204799" y="12967"/>
                    <a:pt x="3010993" y="267"/>
                    <a:pt x="2829206" y="267"/>
                  </a:cubicBezTo>
                  <a:cubicBezTo>
                    <a:pt x="1884215" y="2807"/>
                    <a:pt x="948238" y="-1003"/>
                    <a:pt x="4749" y="267"/>
                  </a:cubicBezTo>
                  <a:cubicBezTo>
                    <a:pt x="4749" y="170447"/>
                    <a:pt x="-1261" y="359677"/>
                    <a:pt x="241" y="529857"/>
                  </a:cubicBezTo>
                  <a:cubicBezTo>
                    <a:pt x="3246" y="847357"/>
                    <a:pt x="7753" y="1166127"/>
                    <a:pt x="7753" y="1483627"/>
                  </a:cubicBezTo>
                  <a:cubicBezTo>
                    <a:pt x="7753" y="1637297"/>
                    <a:pt x="6251" y="1789697"/>
                    <a:pt x="15265" y="1943367"/>
                  </a:cubicBezTo>
                  <a:cubicBezTo>
                    <a:pt x="18270" y="1992897"/>
                    <a:pt x="21275" y="2041157"/>
                    <a:pt x="27284" y="2090687"/>
                  </a:cubicBezTo>
                  <a:cubicBezTo>
                    <a:pt x="225597" y="2093227"/>
                    <a:pt x="422408" y="2097037"/>
                    <a:pt x="620721" y="2102117"/>
                  </a:cubicBezTo>
                  <a:cubicBezTo>
                    <a:pt x="1148053" y="2114817"/>
                    <a:pt x="1660361" y="2094497"/>
                    <a:pt x="2204220" y="2103387"/>
                  </a:cubicBezTo>
                  <a:cubicBezTo>
                    <a:pt x="2614367" y="2109737"/>
                    <a:pt x="3017002" y="2090687"/>
                    <a:pt x="3424826" y="2090687"/>
                  </a:cubicBezTo>
                  <a:cubicBezTo>
                    <a:pt x="3424826" y="2074177"/>
                    <a:pt x="3426096" y="1977657"/>
                    <a:pt x="3427366" y="1961147"/>
                  </a:cubicBezTo>
                  <a:cubicBezTo>
                    <a:pt x="3429906" y="1862087"/>
                    <a:pt x="3415936" y="1676667"/>
                    <a:pt x="3417206" y="1577607"/>
                  </a:cubicBezTo>
                  <a:cubicBezTo>
                    <a:pt x="3423556" y="1169937"/>
                    <a:pt x="3410624" y="1150887"/>
                    <a:pt x="3407619" y="799097"/>
                  </a:cubicBezTo>
                  <a:close/>
                </a:path>
              </a:pathLst>
            </a:custGeom>
            <a:blipFill>
              <a:blip r:embed="rId4"/>
              <a:stretch>
                <a:fillRect l="-518" t="-9629" r="-527" b="-9625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820971" y="2141755"/>
            <a:ext cx="11816910" cy="7247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7" lvl="1" indent="-313054" algn="l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CORE CONCLUSION :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THIS PROJECT CONFIRMED THAT INTEGRATING INTELLIGENT GUIDANCE (HEURISTICS) VIA ALGORITHMS LIKE A* PROVIDES THE OPTIMAL BALANCE BETWEEN PATH QUALITY (SHORTEST PATH GUARANTEE) AND SEARCH EFFICIENCY (MINIMIZING COMPUTATIONAL LOAD).</a:t>
            </a:r>
          </a:p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REMAINING CHALLENGE (THE DEADLOCK PROBLEM): 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THE CURRENT "SHORTEST PATH" STRATEGY IS FLAWED FOR LONG SNAKES. AS THE SNAKE GROWS, FINDING THE SHORTEST PATH MAY TRAP IT IN A CLOSED-OFF AREA (A DEADLOCK), LEADING TO GAME TERMINATION.</a:t>
            </a:r>
          </a:p>
          <a:p>
            <a:pPr marL="626107" lvl="1" indent="-313054" algn="l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FUTURE DEVELOPMENT :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THE NEXT STEP IS TO IMPLEMENT A "LONGEST PATH" ALGORITHM (OR A HAMILTONIAN CYCLE APPROACH). THIS WILL INSTRUCT THE SNAKE TO MAXIMIZE THE SAFE PATH DISTANCE BEFORE REACHING THE FOOD, ENSURING MAXIMUM COVERAGE AND AVOIDING THE SELF-TRAPPING PROBLEM.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699">
              <a:solidFill>
                <a:srgbClr val="000000"/>
              </a:solidFill>
              <a:latin typeface="Retropix"/>
              <a:ea typeface="Retropix"/>
              <a:cs typeface="Retropix"/>
              <a:sym typeface="Retropix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945173" y="1038225"/>
            <a:ext cx="9185335" cy="754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3"/>
              </a:lnSpc>
            </a:pPr>
            <a:r>
              <a:rPr lang="en-US" sz="2799">
                <a:solidFill>
                  <a:srgbClr val="39FF14"/>
                </a:solidFill>
                <a:latin typeface="Pixellet TH"/>
                <a:ea typeface="Pixellet TH"/>
                <a:cs typeface="Pixellet TH"/>
                <a:sym typeface="Pixellet TH"/>
              </a:rPr>
              <a:t>RESEARCH CONCLUSION AND FUTURE CHALLENGES</a:t>
            </a:r>
          </a:p>
        </p:txBody>
      </p:sp>
      <p:sp>
        <p:nvSpPr>
          <p:cNvPr id="9" name="Freeform 9"/>
          <p:cNvSpPr/>
          <p:nvPr/>
        </p:nvSpPr>
        <p:spPr>
          <a:xfrm rot="992762">
            <a:off x="13397436" y="2670275"/>
            <a:ext cx="3764186" cy="5881541"/>
          </a:xfrm>
          <a:custGeom>
            <a:avLst/>
            <a:gdLst/>
            <a:ahLst/>
            <a:cxnLst/>
            <a:rect l="l" t="t" r="r" b="b"/>
            <a:pathLst>
              <a:path w="3764186" h="5881541">
                <a:moveTo>
                  <a:pt x="0" y="0"/>
                </a:moveTo>
                <a:lnTo>
                  <a:pt x="3764186" y="0"/>
                </a:lnTo>
                <a:lnTo>
                  <a:pt x="3764186" y="5881541"/>
                </a:lnTo>
                <a:lnTo>
                  <a:pt x="0" y="58815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267460" y="8353231"/>
            <a:ext cx="1130625" cy="1225610"/>
          </a:xfrm>
          <a:custGeom>
            <a:avLst/>
            <a:gdLst/>
            <a:ahLst/>
            <a:cxnLst/>
            <a:rect l="l" t="t" r="r" b="b"/>
            <a:pathLst>
              <a:path w="1130625" h="1225610">
                <a:moveTo>
                  <a:pt x="0" y="0"/>
                </a:moveTo>
                <a:lnTo>
                  <a:pt x="1130625" y="0"/>
                </a:lnTo>
                <a:lnTo>
                  <a:pt x="1130625" y="1225610"/>
                </a:lnTo>
                <a:lnTo>
                  <a:pt x="0" y="12256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Freeform 2">
            <a:extLst>
              <a:ext uri="{FF2B5EF4-FFF2-40B4-BE49-F238E27FC236}">
                <a16:creationId xmlns:a16="http://schemas.microsoft.com/office/drawing/2014/main" id="{5086EF40-5D40-7BF2-2354-536E5C1A5513}"/>
              </a:ext>
            </a:extLst>
          </p:cNvPr>
          <p:cNvSpPr/>
          <p:nvPr/>
        </p:nvSpPr>
        <p:spPr>
          <a:xfrm rot="162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2847320" h="18288000">
                <a:moveTo>
                  <a:pt x="0" y="0"/>
                </a:moveTo>
                <a:lnTo>
                  <a:pt x="12847320" y="0"/>
                </a:lnTo>
                <a:lnTo>
                  <a:pt x="1284732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w="200025" cap="sq">
            <a:solidFill>
              <a:srgbClr val="39FF14"/>
            </a:solidFill>
            <a:prstDash val="solid"/>
            <a:miter/>
          </a:ln>
        </p:spPr>
      </p:sp>
    </p:spTree>
  </p:cSld>
  <p:clrMapOvr>
    <a:masterClrMapping/>
  </p:clrMapOvr>
  <p:transition spd="slow">
    <p:strips dir="l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1950744" y="4054723"/>
            <a:ext cx="5972364" cy="5897710"/>
          </a:xfrm>
          <a:custGeom>
            <a:avLst/>
            <a:gdLst/>
            <a:ahLst/>
            <a:cxnLst/>
            <a:rect l="l" t="t" r="r" b="b"/>
            <a:pathLst>
              <a:path w="5972364" h="5897710">
                <a:moveTo>
                  <a:pt x="0" y="0"/>
                </a:moveTo>
                <a:lnTo>
                  <a:pt x="5972365" y="0"/>
                </a:lnTo>
                <a:lnTo>
                  <a:pt x="5972365" y="5897710"/>
                </a:lnTo>
                <a:lnTo>
                  <a:pt x="0" y="5897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79529" y="284159"/>
            <a:ext cx="3008471" cy="1783413"/>
          </a:xfrm>
          <a:custGeom>
            <a:avLst/>
            <a:gdLst/>
            <a:ahLst/>
            <a:cxnLst/>
            <a:rect l="l" t="t" r="r" b="b"/>
            <a:pathLst>
              <a:path w="3008471" h="1783413">
                <a:moveTo>
                  <a:pt x="0" y="0"/>
                </a:moveTo>
                <a:lnTo>
                  <a:pt x="3008471" y="0"/>
                </a:lnTo>
                <a:lnTo>
                  <a:pt x="3008471" y="1783413"/>
                </a:lnTo>
                <a:lnTo>
                  <a:pt x="0" y="17834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3908" r="-3530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25943" y="223632"/>
            <a:ext cx="2152650" cy="1904467"/>
          </a:xfrm>
          <a:custGeom>
            <a:avLst/>
            <a:gdLst/>
            <a:ahLst/>
            <a:cxnLst/>
            <a:rect l="l" t="t" r="r" b="b"/>
            <a:pathLst>
              <a:path w="2152650" h="1904467">
                <a:moveTo>
                  <a:pt x="0" y="0"/>
                </a:moveTo>
                <a:lnTo>
                  <a:pt x="2152650" y="0"/>
                </a:lnTo>
                <a:lnTo>
                  <a:pt x="2152650" y="1904467"/>
                </a:lnTo>
                <a:lnTo>
                  <a:pt x="0" y="19044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3531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65542" y="7278330"/>
            <a:ext cx="1130625" cy="1225610"/>
          </a:xfrm>
          <a:custGeom>
            <a:avLst/>
            <a:gdLst/>
            <a:ahLst/>
            <a:cxnLst/>
            <a:rect l="l" t="t" r="r" b="b"/>
            <a:pathLst>
              <a:path w="1130625" h="1225610">
                <a:moveTo>
                  <a:pt x="0" y="0"/>
                </a:moveTo>
                <a:lnTo>
                  <a:pt x="1130625" y="0"/>
                </a:lnTo>
                <a:lnTo>
                  <a:pt x="1130625" y="1225610"/>
                </a:lnTo>
                <a:lnTo>
                  <a:pt x="0" y="12256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36955" y="5627906"/>
            <a:ext cx="1130625" cy="1225610"/>
          </a:xfrm>
          <a:custGeom>
            <a:avLst/>
            <a:gdLst/>
            <a:ahLst/>
            <a:cxnLst/>
            <a:rect l="l" t="t" r="r" b="b"/>
            <a:pathLst>
              <a:path w="1130625" h="1225610">
                <a:moveTo>
                  <a:pt x="0" y="0"/>
                </a:moveTo>
                <a:lnTo>
                  <a:pt x="1130625" y="0"/>
                </a:lnTo>
                <a:lnTo>
                  <a:pt x="1130625" y="1225609"/>
                </a:lnTo>
                <a:lnTo>
                  <a:pt x="0" y="12256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735142" y="5627906"/>
            <a:ext cx="1130625" cy="1225610"/>
          </a:xfrm>
          <a:custGeom>
            <a:avLst/>
            <a:gdLst/>
            <a:ahLst/>
            <a:cxnLst/>
            <a:rect l="l" t="t" r="r" b="b"/>
            <a:pathLst>
              <a:path w="1130625" h="1225610">
                <a:moveTo>
                  <a:pt x="0" y="0"/>
                </a:moveTo>
                <a:lnTo>
                  <a:pt x="1130625" y="0"/>
                </a:lnTo>
                <a:lnTo>
                  <a:pt x="1130625" y="1225609"/>
                </a:lnTo>
                <a:lnTo>
                  <a:pt x="0" y="12256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1754187"/>
            <a:ext cx="16230600" cy="2051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999">
                <a:solidFill>
                  <a:srgbClr val="39FF14"/>
                </a:solidFill>
                <a:latin typeface="Retropix"/>
                <a:ea typeface="Retropix"/>
                <a:cs typeface="Retropix"/>
                <a:sym typeface="Retropix"/>
              </a:rPr>
              <a:t>THANKS AND APPRECIATION : </a:t>
            </a:r>
          </a:p>
          <a:p>
            <a:pPr algn="l">
              <a:lnSpc>
                <a:spcPts val="2547"/>
              </a:lnSpc>
            </a:pPr>
            <a:r>
              <a:rPr lang="en-US" sz="2599">
                <a:solidFill>
                  <a:srgbClr val="39FF14"/>
                </a:solidFill>
                <a:latin typeface="Retropix"/>
                <a:ea typeface="Retropix"/>
                <a:cs typeface="Retropix"/>
                <a:sym typeface="Retropix"/>
              </a:rPr>
              <a:t>We would like to sincerely thank Dr. SOHA SAFWAT, DR. SARA ABDELGHAFAR DR. MAHMOUD SHAWAKY</a:t>
            </a:r>
          </a:p>
          <a:p>
            <a:pPr algn="l">
              <a:lnSpc>
                <a:spcPts val="2547"/>
              </a:lnSpc>
            </a:pPr>
            <a:r>
              <a:rPr lang="en-US" sz="2599">
                <a:solidFill>
                  <a:srgbClr val="39FF14"/>
                </a:solidFill>
                <a:latin typeface="Retropix"/>
                <a:ea typeface="Retropix"/>
                <a:cs typeface="Retropix"/>
                <a:sym typeface="Retropix"/>
              </a:rPr>
              <a:t> , ENG. KHALED TAREK &amp; ENG. HASSAN AHMED</a:t>
            </a:r>
          </a:p>
          <a:p>
            <a:pPr algn="l">
              <a:lnSpc>
                <a:spcPts val="2547"/>
              </a:lnSpc>
            </a:pPr>
            <a:r>
              <a:rPr lang="en-US" sz="2599">
                <a:solidFill>
                  <a:srgbClr val="39FF14"/>
                </a:solidFill>
                <a:latin typeface="Retropix"/>
                <a:ea typeface="Retropix"/>
                <a:cs typeface="Retropix"/>
                <a:sym typeface="Retropix"/>
              </a:rPr>
              <a:t> FOR THEIR VALUABLE SUPPORT AND GREAT EFFORTS DURING OUR PROJECT. </a:t>
            </a:r>
          </a:p>
          <a:p>
            <a:pPr algn="l">
              <a:lnSpc>
                <a:spcPts val="2547"/>
              </a:lnSpc>
            </a:pPr>
            <a:r>
              <a:rPr lang="en-US" sz="2599">
                <a:solidFill>
                  <a:srgbClr val="39FF14"/>
                </a:solidFill>
                <a:latin typeface="Retropix"/>
                <a:ea typeface="Retropix"/>
                <a:cs typeface="Retropix"/>
                <a:sym typeface="Retropix"/>
              </a:rPr>
              <a:t>YOUR GUIDANCE AND ENCOURAGEMENT MEANT A LOT TO US AND TRULY MADE A DIFFERENCE.</a:t>
            </a:r>
          </a:p>
          <a:p>
            <a:pPr algn="l">
              <a:lnSpc>
                <a:spcPts val="2645"/>
              </a:lnSpc>
            </a:pPr>
            <a:endParaRPr lang="en-US" sz="2599">
              <a:solidFill>
                <a:srgbClr val="39FF14"/>
              </a:solidFill>
              <a:latin typeface="Retropix"/>
              <a:ea typeface="Retropix"/>
              <a:cs typeface="Retropix"/>
              <a:sym typeface="Retropix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378593" y="4873054"/>
            <a:ext cx="4827715" cy="62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05"/>
              </a:lnSpc>
            </a:pPr>
            <a:r>
              <a:rPr lang="en-US" sz="4699">
                <a:solidFill>
                  <a:srgbClr val="39FF1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PLAYERS: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96167" y="5857200"/>
            <a:ext cx="4480785" cy="988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39FF14"/>
                </a:solidFill>
                <a:latin typeface="Retropix"/>
                <a:ea typeface="Retropix"/>
                <a:cs typeface="Retropix"/>
                <a:sym typeface="Retropix"/>
              </a:rPr>
              <a:t>EBRAHIM YSUSF EBRAHIM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39FF14"/>
                </a:solidFill>
                <a:latin typeface="Retropix"/>
                <a:ea typeface="Retropix"/>
                <a:cs typeface="Retropix"/>
                <a:sym typeface="Retropix"/>
              </a:rPr>
              <a:t>E4 | 692400174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53648" y="7344400"/>
            <a:ext cx="3765823" cy="988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39FF14"/>
                </a:solidFill>
                <a:latin typeface="Retropix"/>
                <a:ea typeface="Retropix"/>
                <a:cs typeface="Retropix"/>
                <a:sym typeface="Retropix"/>
              </a:rPr>
              <a:t>NORA MAHER MOHAMED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39FF14"/>
                </a:solidFill>
                <a:latin typeface="Retropix"/>
                <a:ea typeface="Retropix"/>
                <a:cs typeface="Retropix"/>
                <a:sym typeface="Retropix"/>
              </a:rPr>
              <a:t>E1 | 692400276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865767" y="5857200"/>
            <a:ext cx="4480785" cy="922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dirty="0">
                <a:solidFill>
                  <a:srgbClr val="39FF14"/>
                </a:solidFill>
                <a:latin typeface="Retropix"/>
                <a:ea typeface="Retropix"/>
                <a:cs typeface="Retropix"/>
                <a:sym typeface="Retropix"/>
              </a:rPr>
              <a:t>AHMAD MOHAMED REFAAT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dirty="0">
                <a:solidFill>
                  <a:srgbClr val="39FF14"/>
                </a:solidFill>
                <a:latin typeface="Retropix"/>
                <a:ea typeface="Retropix"/>
                <a:cs typeface="Retropix"/>
                <a:sym typeface="Retropix"/>
              </a:rPr>
              <a:t>E1 | 692400154</a:t>
            </a:r>
          </a:p>
        </p:txBody>
      </p:sp>
      <p:sp>
        <p:nvSpPr>
          <p:cNvPr id="14" name="Freeform 14"/>
          <p:cNvSpPr/>
          <p:nvPr/>
        </p:nvSpPr>
        <p:spPr>
          <a:xfrm>
            <a:off x="7735142" y="7278330"/>
            <a:ext cx="1130625" cy="1225610"/>
          </a:xfrm>
          <a:custGeom>
            <a:avLst/>
            <a:gdLst/>
            <a:ahLst/>
            <a:cxnLst/>
            <a:rect l="l" t="t" r="r" b="b"/>
            <a:pathLst>
              <a:path w="1130625" h="1225610">
                <a:moveTo>
                  <a:pt x="0" y="0"/>
                </a:moveTo>
                <a:lnTo>
                  <a:pt x="1130625" y="0"/>
                </a:lnTo>
                <a:lnTo>
                  <a:pt x="1130625" y="1225610"/>
                </a:lnTo>
                <a:lnTo>
                  <a:pt x="0" y="12256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9144000" y="7344400"/>
            <a:ext cx="4480785" cy="922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dirty="0">
                <a:solidFill>
                  <a:srgbClr val="39FF14"/>
                </a:solidFill>
                <a:latin typeface="Retropix"/>
                <a:ea typeface="Retropix"/>
                <a:cs typeface="Retropix"/>
                <a:sym typeface="Retropix"/>
              </a:rPr>
              <a:t>FERIAL MOHAMED SAED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dirty="0">
                <a:solidFill>
                  <a:srgbClr val="39FF14"/>
                </a:solidFill>
                <a:latin typeface="Retropix"/>
                <a:ea typeface="Retropix"/>
                <a:cs typeface="Retropix"/>
                <a:sym typeface="Retropix"/>
              </a:rPr>
              <a:t>E1 | 692400369</a:t>
            </a:r>
          </a:p>
        </p:txBody>
      </p:sp>
      <p:sp>
        <p:nvSpPr>
          <p:cNvPr id="16" name="Freeform 16"/>
          <p:cNvSpPr/>
          <p:nvPr/>
        </p:nvSpPr>
        <p:spPr>
          <a:xfrm>
            <a:off x="3661825" y="8503940"/>
            <a:ext cx="1130625" cy="1225610"/>
          </a:xfrm>
          <a:custGeom>
            <a:avLst/>
            <a:gdLst/>
            <a:ahLst/>
            <a:cxnLst/>
            <a:rect l="l" t="t" r="r" b="b"/>
            <a:pathLst>
              <a:path w="1130625" h="1225610">
                <a:moveTo>
                  <a:pt x="0" y="0"/>
                </a:moveTo>
                <a:lnTo>
                  <a:pt x="1130625" y="0"/>
                </a:lnTo>
                <a:lnTo>
                  <a:pt x="1130625" y="1225610"/>
                </a:lnTo>
                <a:lnTo>
                  <a:pt x="0" y="12256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4792450" y="8711565"/>
            <a:ext cx="4480785" cy="922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dirty="0">
                <a:solidFill>
                  <a:srgbClr val="39FF14"/>
                </a:solidFill>
                <a:latin typeface="Retropix"/>
                <a:ea typeface="Retropix"/>
                <a:cs typeface="Retropix"/>
                <a:sym typeface="Retropix"/>
              </a:rPr>
              <a:t>NOHA MOHAMED HAMDI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39FF14"/>
                </a:solidFill>
                <a:latin typeface="Retropix"/>
                <a:ea typeface="Retropix"/>
                <a:cs typeface="Retropix"/>
                <a:sym typeface="Retropix"/>
              </a:rPr>
              <a:t>E1 | 692400012</a:t>
            </a:r>
          </a:p>
        </p:txBody>
      </p:sp>
      <p:sp>
        <p:nvSpPr>
          <p:cNvPr id="18" name="Freeform 2">
            <a:extLst>
              <a:ext uri="{FF2B5EF4-FFF2-40B4-BE49-F238E27FC236}">
                <a16:creationId xmlns:a16="http://schemas.microsoft.com/office/drawing/2014/main" id="{B6D4BF1D-5D32-DFEC-30B4-BBCA5557E442}"/>
              </a:ext>
            </a:extLst>
          </p:cNvPr>
          <p:cNvSpPr/>
          <p:nvPr/>
        </p:nvSpPr>
        <p:spPr>
          <a:xfrm rot="162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2847320" h="18288000">
                <a:moveTo>
                  <a:pt x="0" y="0"/>
                </a:moveTo>
                <a:lnTo>
                  <a:pt x="12847320" y="0"/>
                </a:lnTo>
                <a:lnTo>
                  <a:pt x="1284732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w="200025" cap="sq">
            <a:solidFill>
              <a:srgbClr val="39FF14"/>
            </a:solidFill>
            <a:prstDash val="solid"/>
            <a:miter/>
          </a:ln>
        </p:spPr>
      </p:sp>
    </p:spTree>
  </p:cSld>
  <p:clrMapOvr>
    <a:masterClrMapping/>
  </p:clrMapOvr>
  <p:transition spd="slow">
    <p:strips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3528</Words>
  <Application>Microsoft Office PowerPoint</Application>
  <PresentationFormat>Custom</PresentationFormat>
  <Paragraphs>425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 Night</dc:title>
  <dc:creator>noura maher</dc:creator>
  <cp:lastModifiedBy>noura maher</cp:lastModifiedBy>
  <cp:revision>7</cp:revision>
  <dcterms:created xsi:type="dcterms:W3CDTF">2006-08-16T00:00:00Z</dcterms:created>
  <dcterms:modified xsi:type="dcterms:W3CDTF">2025-12-19T11:08:34Z</dcterms:modified>
  <dc:identifier>DAG7TsxRrlQ</dc:identifier>
</cp:coreProperties>
</file>